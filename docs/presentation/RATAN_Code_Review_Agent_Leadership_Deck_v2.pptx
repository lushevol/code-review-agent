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d34e9beacd48e5" /><Relationship Type="http://schemas.openxmlformats.org/officeDocument/2006/relationships/extended-properties" Target="/docProps/app.xml" Id="R281d142df48c403a" /><Relationship Type="http://schemas.openxmlformats.org/officeDocument/2006/relationships/officeDocument" Target="/ppt/presentation.xml" Id="Rb53a7a9abd69455a" /></Relationships>
</file>

<file path=ppt/presentation.xml><?xml version="1.0" encoding="utf-8"?>
<p:presentation xmlns:p="http://schemas.openxmlformats.org/presentationml/2006/main">
  <p:sldMasterIdLst>
    <p:sldMasterId xmlns:r="http://schemas.openxmlformats.org/officeDocument/2006/relationships" id="2147483648" r:id="Rba36a12d710b480f"/>
  </p:sldMasterIdLst>
  <p:notesMasterIdLst>
    <p:notesMasterId xmlns:r="http://schemas.openxmlformats.org/officeDocument/2006/relationships" r:id="Ra2c24537f73c4ba7"/>
  </p:notesMasterIdLst>
  <p:sldIdLst>
    <p:sldId xmlns:r="http://schemas.openxmlformats.org/officeDocument/2006/relationships" id="256" r:id="R3efc83f78e0f4ffb"/>
    <p:sldId xmlns:r="http://schemas.openxmlformats.org/officeDocument/2006/relationships" id="257" r:id="R62fb943e91104276"/>
    <p:sldId xmlns:r="http://schemas.openxmlformats.org/officeDocument/2006/relationships" id="258" r:id="R000ce9268c584159"/>
    <p:sldId xmlns:r="http://schemas.openxmlformats.org/officeDocument/2006/relationships" id="259" r:id="R46c7cab515894947"/>
    <p:sldId xmlns:r="http://schemas.openxmlformats.org/officeDocument/2006/relationships" id="260" r:id="Rc61c852bc40b45a7"/>
    <p:sldId xmlns:r="http://schemas.openxmlformats.org/officeDocument/2006/relationships" id="261" r:id="R7782aa139a4341e7"/>
    <p:sldId xmlns:r="http://schemas.openxmlformats.org/officeDocument/2006/relationships" id="262" r:id="R83a494c0fdfd42e0"/>
    <p:sldId xmlns:r="http://schemas.openxmlformats.org/officeDocument/2006/relationships" id="263" r:id="R8e7f2a087a624ad0"/>
    <p:sldId xmlns:r="http://schemas.openxmlformats.org/officeDocument/2006/relationships" id="264" r:id="R7af789d2c3ec4428"/>
    <p:sldId xmlns:r="http://schemas.openxmlformats.org/officeDocument/2006/relationships" id="265" r:id="Rc1335df806ad4066"/>
    <p:sldId xmlns:r="http://schemas.openxmlformats.org/officeDocument/2006/relationships" id="266" r:id="R47440bd87cb74308"/>
    <p:sldId xmlns:r="http://schemas.openxmlformats.org/officeDocument/2006/relationships" id="267" r:id="Rcba30ba172b248ba"/>
    <p:sldId xmlns:r="http://schemas.openxmlformats.org/officeDocument/2006/relationships" id="268" r:id="Rcfa4e782004245fa"/>
    <p:sldId xmlns:r="http://schemas.openxmlformats.org/officeDocument/2006/relationships" id="269" r:id="R35382f780e6c4167"/>
    <p:sldId xmlns:r="http://schemas.openxmlformats.org/officeDocument/2006/relationships" id="270" r:id="R73aca7814a8d4478"/>
    <p:sldId xmlns:r="http://schemas.openxmlformats.org/officeDocument/2006/relationships" id="271" r:id="R2664ff97665247d6"/>
    <p:sldId xmlns:r="http://schemas.openxmlformats.org/officeDocument/2006/relationships" id="272" r:id="R2595332df2bc4e1d"/>
    <p:sldId xmlns:r="http://schemas.openxmlformats.org/officeDocument/2006/relationships" id="273" r:id="Rf3dec54f26e640c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3248e0e9c945c6" /><Relationship Type="http://schemas.openxmlformats.org/officeDocument/2006/relationships/slideMaster" Target="/ppt/slideMasters/slideMaster1.xml" Id="Rba36a12d710b480f" /><Relationship Type="http://schemas.openxmlformats.org/officeDocument/2006/relationships/notesMaster" Target="/ppt/notesMasters/notesMaster1.xml" Id="Ra2c24537f73c4ba7" /><Relationship Type="http://schemas.openxmlformats.org/officeDocument/2006/relationships/presProps" Target="/ppt/presProps.xml" Id="R72fa89495a504832" /><Relationship Type="http://schemas.openxmlformats.org/officeDocument/2006/relationships/tableStyles" Target="/ppt/tableStyles.xml" Id="R8454976dfe744fcd" /><Relationship Type="http://schemas.openxmlformats.org/officeDocument/2006/relationships/slide" Target="/ppt/slides/slide1.xml" Id="R3efc83f78e0f4ffb" /><Relationship Type="http://schemas.openxmlformats.org/officeDocument/2006/relationships/slide" Target="/ppt/slides/slide2.xml" Id="R62fb943e91104276" /><Relationship Type="http://schemas.openxmlformats.org/officeDocument/2006/relationships/slide" Target="/ppt/slides/slide3.xml" Id="R000ce9268c584159" /><Relationship Type="http://schemas.openxmlformats.org/officeDocument/2006/relationships/slide" Target="/ppt/slides/slide4.xml" Id="R46c7cab515894947" /><Relationship Type="http://schemas.openxmlformats.org/officeDocument/2006/relationships/slide" Target="/ppt/slides/slide5.xml" Id="Rc61c852bc40b45a7" /><Relationship Type="http://schemas.openxmlformats.org/officeDocument/2006/relationships/slide" Target="/ppt/slides/slide6.xml" Id="R7782aa139a4341e7" /><Relationship Type="http://schemas.openxmlformats.org/officeDocument/2006/relationships/slide" Target="/ppt/slides/slide7.xml" Id="R83a494c0fdfd42e0" /><Relationship Type="http://schemas.openxmlformats.org/officeDocument/2006/relationships/slide" Target="/ppt/slides/slide8.xml" Id="R8e7f2a087a624ad0" /><Relationship Type="http://schemas.openxmlformats.org/officeDocument/2006/relationships/slide" Target="/ppt/slides/slide9.xml" Id="R7af789d2c3ec4428" /><Relationship Type="http://schemas.openxmlformats.org/officeDocument/2006/relationships/slide" Target="/ppt/slides/slide10.xml" Id="Rc1335df806ad4066" /><Relationship Type="http://schemas.openxmlformats.org/officeDocument/2006/relationships/slide" Target="/ppt/slides/slide11.xml" Id="R47440bd87cb74308" /><Relationship Type="http://schemas.openxmlformats.org/officeDocument/2006/relationships/slide" Target="/ppt/slides/slide12.xml" Id="Rcba30ba172b248ba" /><Relationship Type="http://schemas.openxmlformats.org/officeDocument/2006/relationships/slide" Target="/ppt/slides/slide13.xml" Id="Rcfa4e782004245fa" /><Relationship Type="http://schemas.openxmlformats.org/officeDocument/2006/relationships/slide" Target="/ppt/slides/slide14.xml" Id="R35382f780e6c4167" /><Relationship Type="http://schemas.openxmlformats.org/officeDocument/2006/relationships/slide" Target="/ppt/slides/slide15.xml" Id="R73aca7814a8d4478" /><Relationship Type="http://schemas.openxmlformats.org/officeDocument/2006/relationships/slide" Target="/ppt/slides/slide16.xml" Id="R2664ff97665247d6" /><Relationship Type="http://schemas.openxmlformats.org/officeDocument/2006/relationships/slide" Target="/ppt/slides/slide17.xml" Id="R2595332df2bc4e1d" /><Relationship Type="http://schemas.openxmlformats.org/officeDocument/2006/relationships/slide" Target="/ppt/slides/slide18.xml" Id="Rf3dec54f26e640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1657154c024e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d025540341418a" /><Relationship Type="http://schemas.openxmlformats.org/officeDocument/2006/relationships/notesMaster" Target="/ppt/notesMasters/notesMaster1.xml" Id="R471d160b6b2d45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315c2e001248b8" /><Relationship Type="http://schemas.openxmlformats.org/officeDocument/2006/relationships/notesMaster" Target="/ppt/notesMasters/notesMaster1.xml" Id="Rc2be6570aad348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94bb2a16bb4aaf" /><Relationship Type="http://schemas.openxmlformats.org/officeDocument/2006/relationships/notesMaster" Target="/ppt/notesMasters/notesMaster1.xml" Id="Rfa9ee48542d74f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d2fd83d9e44e2f" /><Relationship Type="http://schemas.openxmlformats.org/officeDocument/2006/relationships/notesMaster" Target="/ppt/notesMasters/notesMaster1.xml" Id="R63ee9400dd5c46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f3962970c0457f" /><Relationship Type="http://schemas.openxmlformats.org/officeDocument/2006/relationships/notesMaster" Target="/ppt/notesMasters/notesMaster1.xml" Id="Reb449f4ab98040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fbd545344540d0" /><Relationship Type="http://schemas.openxmlformats.org/officeDocument/2006/relationships/notesMaster" Target="/ppt/notesMasters/notesMaster1.xml" Id="Rc45eaab5be654a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74148288814bd9" /><Relationship Type="http://schemas.openxmlformats.org/officeDocument/2006/relationships/notesMaster" Target="/ppt/notesMasters/notesMaster1.xml" Id="R5cecff2720f64f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e91496185b4333" /><Relationship Type="http://schemas.openxmlformats.org/officeDocument/2006/relationships/notesMaster" Target="/ppt/notesMasters/notesMaster1.xml" Id="Rccbfbc050b734f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cd341f3c734c72" /><Relationship Type="http://schemas.openxmlformats.org/officeDocument/2006/relationships/notesMaster" Target="/ppt/notesMasters/notesMaster1.xml" Id="Rdd7fced0a12f4b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101bb9262f4792" /><Relationship Type="http://schemas.openxmlformats.org/officeDocument/2006/relationships/notesMaster" Target="/ppt/notesMasters/notesMaster1.xml" Id="R1305b2a8637d42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59a5091254457b" /><Relationship Type="http://schemas.openxmlformats.org/officeDocument/2006/relationships/notesMaster" Target="/ppt/notesMasters/notesMaster1.xml" Id="Rc021d08e45f041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b2914925804fc7" /><Relationship Type="http://schemas.openxmlformats.org/officeDocument/2006/relationships/notesMaster" Target="/ppt/notesMasters/notesMaster1.xml" Id="R01a932e1e31443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f30ac095174c20" /><Relationship Type="http://schemas.openxmlformats.org/officeDocument/2006/relationships/notesMaster" Target="/ppt/notesMasters/notesMaster1.xml" Id="R6d6ded51699f45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eac8e464434185" /><Relationship Type="http://schemas.openxmlformats.org/officeDocument/2006/relationships/notesMaster" Target="/ppt/notesMasters/notesMaster1.xml" Id="R9a906afd791b4e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0c3c679e614a63" /><Relationship Type="http://schemas.openxmlformats.org/officeDocument/2006/relationships/notesMaster" Target="/ppt/notesMasters/notesMaster1.xml" Id="R841d1e7011474b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cc94f253d246b4" /><Relationship Type="http://schemas.openxmlformats.org/officeDocument/2006/relationships/notesMaster" Target="/ppt/notesMasters/notesMaster1.xml" Id="Rf5e0ce7126ae4f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af08ae5605417f" /><Relationship Type="http://schemas.openxmlformats.org/officeDocument/2006/relationships/notesMaster" Target="/ppt/notesMasters/notesMaster1.xml" Id="R569eda135d254e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cd13db771e46b3" /><Relationship Type="http://schemas.openxmlformats.org/officeDocument/2006/relationships/notesMaster" Target="/ppt/notesMasters/notesMaster1.xml" Id="Ref0752fea47847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destination: V1 demonstrated value; V2 is about making that value reusable, governed and trustworthy enough for wider adoption. The session is 20 minutes plus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RATAN provides an automated first review for Azure DevOps pull requests. It detects defects, test gaps, security concerns and project-specific risks. Human reviewers remain accountable for final approval and risk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repetitive review effort, inconsistent review coverage and late discovery of release-blocking issues. V1 moved these checks earlier into the pull request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proved that early AI-assisted review can reduce repetitive effort and improve consistency. Its limitations were difficult customisation, limited project context, weak feedback capture, heavier infrastructure and poor incremental-review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uses a layered architecture. The experience layer provides CLI, watch mode and dashboard access. Orchestration manages configuration, queues and workflow. Analysis combines AI review, CVE scanning and compliance checks. Governance stores findings, applies merge policy and records audit data. Enterprise integrations connect Azure DevOps, the approved LLM endpoint and SonarQube.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lowers adoption cost through CLI packaging, configuration-driven behaviour, modular rules, structured context injection, SQLite persistence and reuse across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depends on focused findings, stable review behaviour and auditable controls. V2 supports incremental commits by refreshing inline issue status and the overall report automatically. Feedback is used to measure precision and improve rules. Emphasise that allowed is not a guarantee of correctness or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Enterprise readiness requires service authentication, AI Factory integration, a standard repository context package, clear operating ownership and a measured pilot before broader rollout or stronger gating.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should show one prepared pull request, focused findings, Azure DevOps output, reviewer feedback and an incremental commit that refreshes issue status and the overall report without duplicate 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closing: RATAN Code Review Agent is not a proposal to delegate engineering accountability to AI. It is a proposal to strengthen the pull request control with an earlier, more consistent and measurable automated review. The initial implementation proved the value; V2 focuses on making that value reusable, governed and trustworthy enough for broader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Business case &amp; human accountability</a:t>
            </a:r>
          </a:p>
          <a:p xmlns:a="http://schemas.openxmlformats.org/drawingml/2006/main">
            <a:r>
              <a:t/>
            </a:r>
          </a:p>
          <a:p xmlns:a="http://schemas.openxmlformats.org/drawingml/2006/main">
            <a:r>
              <a:t>1. What business problem are we solving?</a:t>
            </a:r>
          </a:p>
          <a:p xmlns:a="http://schemas.openxmlformats.org/drawingml/2006/main">
            <a:r>
              <a:t>We are reducing repetitive engineering effort and moving quality, security, and release-risk detection earlier in the delivery lifecycle. The intended business outcome is fewer late surprises, more consistent controls, and better use of experienced engineering capacity.</a:t>
            </a:r>
          </a:p>
          <a:p xmlns:a="http://schemas.openxmlformats.org/drawingml/2006/main">
            <a:r>
              <a:t/>
            </a:r>
          </a:p>
          <a:p xmlns:a="http://schemas.openxmlformats.org/drawingml/2006/main">
            <a:r>
              <a:t>2. Is the agent replacing human code reviewers?</a:t>
            </a:r>
          </a:p>
          <a:p xmlns:a="http://schemas.openxmlformats.org/drawingml/2006/main">
            <a:r>
              <a:t>No. It provides a consistent automated first review and supporting evidence. Human reviewers remain accountable for final approval, architecture, business behaviour, operational impact, and risk acceptance.</a:t>
            </a:r>
          </a:p>
          <a:p xmlns:a="http://schemas.openxmlformats.org/drawingml/2006/main">
            <a:r>
              <a:t/>
            </a:r>
          </a:p>
          <a:p xmlns:a="http://schemas.openxmlformats.org/drawingml/2006/main">
            <a:r>
              <a:t>3. Why is human approval still required?</a:t>
            </a:r>
          </a:p>
          <a:p xmlns:a="http://schemas.openxmlformats.org/drawingml/2006/main">
            <a:r>
              <a:t>AI output is probabilistic and can be incomplete or incorrect. Human accountability is required for judgement-based decisions, especially where business intent, architecture, or risk trade-offs are involved.</a:t>
            </a:r>
          </a:p>
          <a:p xmlns:a="http://schemas.openxmlformats.org/drawingml/2006/main">
            <a:r>
              <a:t/>
            </a:r>
          </a:p>
          <a:p xmlns:a="http://schemas.openxmlformats.org/drawingml/2006/main">
            <a:r>
              <a:t>4. What evidence do we have that the approach creates value?</a:t>
            </a:r>
          </a:p>
          <a:p xmlns:a="http://schemas.openxmlformats.org/drawingml/2006/main">
            <a:r>
              <a:t>The initial implementation showed that issues and unit-test gaps could be identified before pull request approval, repetitive checks could be reduced, and a more consistent review baseline could be applied. V2 should now validate these benefits through a formally measured pilot.</a:t>
            </a:r>
          </a:p>
          <a:p xmlns:a="http://schemas.openxmlformats.org/drawingml/2006/main">
            <a:r>
              <a:t/>
            </a:r>
          </a:p>
          <a:p xmlns:a="http://schemas.openxmlformats.org/drawingml/2006/main">
            <a:r>
              <a:t>5. Why not continue using the existing implementation?</a:t>
            </a:r>
          </a:p>
          <a:p xmlns:a="http://schemas.openxmlformats.org/drawingml/2006/main">
            <a:r>
              <a:t>The existing capability validated the use case but is difficult to customise, deploy, reuse, and continuously improve. V2 preserves the proven outcome while addressing configuration, context, feedback, incremental commits, and infrastructure overhead.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Product and platform choices</a:t>
            </a:r>
          </a:p>
          <a:p xmlns:a="http://schemas.openxmlformats.org/drawingml/2006/main">
            <a:r>
              <a:t/>
            </a:r>
          </a:p>
          <a:p xmlns:a="http://schemas.openxmlformats.org/drawingml/2006/main">
            <a:r>
              <a:t>6. Why use a CLI rather than a centrally hosted service?</a:t>
            </a:r>
          </a:p>
          <a:p xmlns:a="http://schemas.openxmlformats.org/drawingml/2006/main">
            <a:r>
              <a:t>A CLI lowers adoption and infrastructure cost for the next stage. It can run in an approved environment without requiring every adopter to provision and support a service and database. The architecture can evolve toward central services later if scale and operating evidence justify it.</a:t>
            </a:r>
          </a:p>
          <a:p xmlns:a="http://schemas.openxmlformats.org/drawingml/2006/main">
            <a:r>
              <a:t/>
            </a:r>
          </a:p>
          <a:p xmlns:a="http://schemas.openxmlformats.org/drawingml/2006/main">
            <a:r>
              <a:t>7. Will a CLI create inconsistent versions across teams?</a:t>
            </a:r>
          </a:p>
          <a:p xmlns:a="http://schemas.openxmlformats.org/drawingml/2006/main">
            <a:r>
              <a:t>That risk must be controlled through an approved package registry, pinned versions, centrally maintained configuration baselines, upgrade policy, and support windows. Teams should not download or modify arbitrary versions.</a:t>
            </a:r>
          </a:p>
          <a:p xmlns:a="http://schemas.openxmlformats.org/drawingml/2006/main">
            <a:r>
              <a:t/>
            </a:r>
          </a:p>
          <a:p xmlns:a="http://schemas.openxmlformats.org/drawingml/2006/main">
            <a:r>
              <a:t>8. Why use an open-source review engine?</a:t>
            </a:r>
          </a:p>
          <a:p xmlns:a="http://schemas.openxmlformats.org/drawingml/2006/main">
            <a:r>
              <a:t>It reduces the amount of generic review framework we must build and maintain. Open source does not mean uncontrolled use: the component must pass licensing, security, architecture, and dependency governance, and RATAN retains control over models, rules, context, execution, and publication.</a:t>
            </a:r>
          </a:p>
          <a:p xmlns:a="http://schemas.openxmlformats.org/drawingml/2006/main">
            <a:r>
              <a:t/>
            </a:r>
          </a:p>
          <a:p xmlns:a="http://schemas.openxmlformats.org/drawingml/2006/main">
            <a:r>
              <a:t>9. What happens if the open-source project is abandoned?</a:t>
            </a:r>
          </a:p>
          <a:p xmlns:a="http://schemas.openxmlformats.org/drawingml/2006/main">
            <a:r>
              <a:t>The approved version can remain pinned while ownership assesses alternatives. RATAN should isolate the engine behind an adapter so it can be replaced without redesigning Azure DevOps integration, persistence, feedback, or governance workflows.</a:t>
            </a:r>
          </a:p>
          <a:p xmlns:a="http://schemas.openxmlformats.org/drawingml/2006/main">
            <a:r>
              <a:t/>
            </a:r>
          </a:p>
          <a:p xmlns:a="http://schemas.openxmlformats.org/drawingml/2006/main">
            <a:r>
              <a:t>10. How is this different from SonarQube or existing static-analysis tools?</a:t>
            </a:r>
          </a:p>
          <a:p xmlns:a="http://schemas.openxmlformats.org/drawingml/2006/main">
            <a:r>
              <a:t>Static-analysis tools detect deterministic patterns, quality issues, and known vulnerabilities. The AI reviewer can reason about a change using project context, intended behaviour, and interactions across code. They are complementary, and deterministic scanners should remain authoritative for the controls they cover.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Control model &amp; failure states</a:t>
            </a:r>
          </a:p>
          <a:p xmlns:a="http://schemas.openxmlformats.org/drawingml/2006/main">
            <a:r>
              <a:t/>
            </a:r>
          </a:p>
          <a:p xmlns:a="http://schemas.openxmlformats.org/drawingml/2006/main">
            <a:r>
              <a:t>11. Are we duplicating controls already present in pipelines?</a:t>
            </a:r>
          </a:p>
          <a:p xmlns:a="http://schemas.openxmlformats.org/drawingml/2006/main">
            <a:r>
              <a:t>The goal is not to duplicate authoritative controls unnecessarily. Existing pipeline results should be consumed or referenced where practical. The agent adds value by consolidating evidence, applying contextual review, and surfacing risks earlier in the pull request workflow.</a:t>
            </a:r>
          </a:p>
          <a:p xmlns:a="http://schemas.openxmlformats.org/drawingml/2006/main">
            <a:r>
              <a:t/>
            </a:r>
          </a:p>
          <a:p xmlns:a="http://schemas.openxmlformats.org/drawingml/2006/main">
            <a:r>
              <a:t>12. Can the agent block a release incorrectly?</a:t>
            </a:r>
          </a:p>
          <a:p xmlns:a="http://schemas.openxmlformats.org/drawingml/2006/main">
            <a:r>
              <a:t>A false positive could block a pull request if the organisation configures that category as blocking. Therefore, initial adoption should use advisory or carefully limited gating, provide an override process, retain human authority, and require sufficient precision evidence before expanding blocking scope.</a:t>
            </a:r>
          </a:p>
          <a:p xmlns:a="http://schemas.openxmlformats.org/drawingml/2006/main">
            <a:r>
              <a:t/>
            </a:r>
          </a:p>
          <a:p xmlns:a="http://schemas.openxmlformats.org/drawingml/2006/main">
            <a:r>
              <a:t>13. What happens if the AI service or a scanner is unavailable?</a:t>
            </a:r>
          </a:p>
          <a:p xmlns:a="http://schemas.openxmlformats.org/drawingml/2006/main">
            <a:r>
              <a:t>If the primary review is incomplete, the result is pending and manual review is required. A failure must never produce an allowed result. Optional scanner failures should be reported transparently and handled according to the configured risk policy.</a:t>
            </a:r>
          </a:p>
          <a:p xmlns:a="http://schemas.openxmlformats.org/drawingml/2006/main">
            <a:r>
              <a:t/>
            </a:r>
          </a:p>
          <a:p xmlns:a="http://schemas.openxmlformats.org/drawingml/2006/main">
            <a:r>
              <a:t>14. Does “allowed” mean the code is safe?</a:t>
            </a:r>
          </a:p>
          <a:p xmlns:a="http://schemas.openxmlformats.org/drawingml/2006/main">
            <a:r>
              <a:t>No. It means the configured automated review completed and found no open blocking issue. It is not a guarantee of correctness, security, regulatory compliance, or production readiness, and it does not replace required human or pipeline approvals.</a:t>
            </a:r>
          </a:p>
          <a:p xmlns:a="http://schemas.openxmlformats.org/drawingml/2006/main">
            <a:r>
              <a:t/>
            </a:r>
          </a:p>
          <a:p xmlns:a="http://schemas.openxmlformats.org/drawingml/2006/main">
            <a:r>
              <a:t>15. How do we prevent hallucinated or low-quality findings?</a:t>
            </a:r>
          </a:p>
          <a:p xmlns:a="http://schemas.openxmlformats.org/drawingml/2006/main">
            <a:r>
              <a:t>Findings should require concrete code evidence, clear reasoning, severity criteria, and actionable remediation. Comment limits, rule scoping, confidence thresholds, historical regression tests, and reviewer feedback should be used to control quality.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Signal quality &amp; economics</a:t>
            </a:r>
          </a:p>
          <a:p xmlns:a="http://schemas.openxmlformats.org/drawingml/2006/main">
            <a:r>
              <a:t/>
            </a:r>
          </a:p>
          <a:p xmlns:a="http://schemas.openxmlformats.org/drawingml/2006/main">
            <a:r>
              <a:t>16. How do we prevent excessive comments from slowing developers down?</a:t>
            </a:r>
          </a:p>
          <a:p xmlns:a="http://schemas.openxmlformats.org/drawingml/2006/main">
            <a:r>
              <a:t>The tool should prioritise material findings, suppress duplicates, consolidate related issues, cap low-value comments, and publish one current summary. Success is measured by useful findings and reduced effort, not by comment volume.</a:t>
            </a:r>
          </a:p>
          <a:p xmlns:a="http://schemas.openxmlformats.org/drawingml/2006/main">
            <a:r>
              <a:t/>
            </a:r>
          </a:p>
          <a:p xmlns:a="http://schemas.openxmlformats.org/drawingml/2006/main">
            <a:r>
              <a:t>17. How will false positives be managed?</a:t>
            </a:r>
          </a:p>
          <a:p xmlns:a="http://schemas.openxmlformats.org/drawingml/2006/main">
            <a:r>
              <a:t>Reviewers can dismiss or classify findings, explain missing context, or accept a risk by design. These signals are retained, analysed by rule and repository, and used to improve or retire underperforming rules.</a:t>
            </a:r>
          </a:p>
          <a:p xmlns:a="http://schemas.openxmlformats.org/drawingml/2006/main">
            <a:r>
              <a:t/>
            </a:r>
          </a:p>
          <a:p xmlns:a="http://schemas.openxmlformats.org/drawingml/2006/main">
            <a:r>
              <a:t>18. How will we measure success?</a:t>
            </a:r>
          </a:p>
          <a:p xmlns:a="http://schemas.openxmlformats.org/drawingml/2006/main">
            <a:r>
              <a:t>Key measures include manual review time, time to first useful finding, valid finding rate, false-positive rate, review completion rate, duplicate-comment rate, blocking issues found before approval, and issues resolved before release validation.</a:t>
            </a:r>
          </a:p>
          <a:p xmlns:a="http://schemas.openxmlformats.org/drawingml/2006/main">
            <a:r>
              <a:t/>
            </a:r>
          </a:p>
          <a:p xmlns:a="http://schemas.openxmlformats.org/drawingml/2006/main">
            <a:r>
              <a:t>19. What is the expected financial benefit?</a:t>
            </a:r>
          </a:p>
          <a:p xmlns:a="http://schemas.openxmlformats.org/drawingml/2006/main">
            <a:r>
              <a:t>The initial benefit is capacity recovery and avoided rework rather than direct headcount reduction. A credible financial case should be based on measured reviewer hours saved, reduced late remediation, avoided regression cycles, and fewer release delays during the pilot.</a:t>
            </a:r>
          </a:p>
          <a:p xmlns:a="http://schemas.openxmlformats.org/drawingml/2006/main">
            <a:r>
              <a:t/>
            </a:r>
          </a:p>
          <a:p xmlns:a="http://schemas.openxmlformats.org/drawingml/2006/main">
            <a:r>
              <a:t>20. What is the cost of operating V2?</a:t>
            </a:r>
          </a:p>
          <a:p xmlns:a="http://schemas.openxmlformats.org/drawingml/2006/main">
            <a:r>
              <a:t>Costs include model usage, engineering ownership, package maintenance, support, security reviews, evaluation, and integration with Azure DevOps and AI Factory. The CLI and SQLite model reduce infrastructure cost, but the total cost must still be measured during the pilot.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Data, model risk &amp; accountability</a:t>
            </a:r>
          </a:p>
          <a:p xmlns:a="http://schemas.openxmlformats.org/drawingml/2006/main">
            <a:r>
              <a:t/>
            </a:r>
          </a:p>
          <a:p xmlns:a="http://schemas.openxmlformats.org/drawingml/2006/main">
            <a:r>
              <a:t>21. How do we protect confidential source code?</a:t>
            </a:r>
          </a:p>
          <a:p xmlns:a="http://schemas.openxmlformats.org/drawingml/2006/main">
            <a:r>
              <a:t>Execution should remain in an approved internal environment and use an approved internal model endpoint. Only required context should be submitted, sensitive values should be masked, access should use least privilege, and retention and logging must follow internal data-handling requirements.</a:t>
            </a:r>
          </a:p>
          <a:p xmlns:a="http://schemas.openxmlformats.org/drawingml/2006/main">
            <a:r>
              <a:t/>
            </a:r>
          </a:p>
          <a:p xmlns:a="http://schemas.openxmlformats.org/drawingml/2006/main">
            <a:r>
              <a:t>22. Could secrets still be exposed to the model?</a:t>
            </a:r>
          </a:p>
          <a:p xmlns:a="http://schemas.openxmlformats.org/drawingml/2006/main">
            <a:r>
              <a:t>Yes, if secrets are committed into changed code or surrounding context. Masking reduces the risk but is not infallible. Existing secret-scanning controls remain necessary, and the review workflow should minimise submitted content and avoid retaining raw sensitive prompts where not required.</a:t>
            </a:r>
          </a:p>
          <a:p xmlns:a="http://schemas.openxmlformats.org/drawingml/2006/main">
            <a:r>
              <a:t/>
            </a:r>
          </a:p>
          <a:p xmlns:a="http://schemas.openxmlformats.org/drawingml/2006/main">
            <a:r>
              <a:t>23. What data will be retained?</a:t>
            </a:r>
          </a:p>
          <a:p xmlns:a="http://schemas.openxmlformats.org/drawingml/2006/main">
            <a:r>
              <a:t>The minimum necessary audit data should include repository and commit identifiers, rules and model configuration, scanner outcomes, findings, publication status, decisions, overrides, and feedback. Retention duration and access controls should be defined with governance stakeholders.</a:t>
            </a:r>
          </a:p>
          <a:p xmlns:a="http://schemas.openxmlformats.org/drawingml/2006/main">
            <a:r>
              <a:t/>
            </a:r>
          </a:p>
          <a:p xmlns:a="http://schemas.openxmlformats.org/drawingml/2006/main">
            <a:r>
              <a:t>24. Does this create a new model-risk or regulatory concern?</a:t>
            </a:r>
          </a:p>
          <a:p xmlns:a="http://schemas.openxmlformats.org/drawingml/2006/main">
            <a:r>
              <a:t>It introduces AI-related operational, security, and control risks that require assessment. The tool should be classified according to internal AI governance, with documented purpose, human oversight, evaluation, change control, monitoring, limitations, and approved usage boundaries.</a:t>
            </a:r>
          </a:p>
          <a:p xmlns:a="http://schemas.openxmlformats.org/drawingml/2006/main">
            <a:r>
              <a:t/>
            </a:r>
          </a:p>
          <a:p xmlns:a="http://schemas.openxmlformats.org/drawingml/2006/main">
            <a:r>
              <a:t>25. Who is accountable when the agent misses an issue?</a:t>
            </a:r>
          </a:p>
          <a:p xmlns:a="http://schemas.openxmlformats.org/drawingml/2006/main">
            <a:r>
              <a:t>The engineering team and designated human approvers remain accountable for the change. The agent is an additional control, not a transfer of accountability. Missed issues should feed into control analysis and rule improvement.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Ownership, onboarding &amp; standards</a:t>
            </a:r>
          </a:p>
          <a:p xmlns:a="http://schemas.openxmlformats.org/drawingml/2006/main">
            <a:r>
              <a:t/>
            </a:r>
          </a:p>
          <a:p xmlns:a="http://schemas.openxmlformats.org/drawingml/2006/main">
            <a:r>
              <a:t>26. Who owns the product and supports adopters?</a:t>
            </a:r>
          </a:p>
          <a:p xmlns:a="http://schemas.openxmlformats.org/drawingml/2006/main">
            <a:r>
              <a:t>A named product owner and engineering owner are required. The operating model should define ownership of the core package, approved rules, onboarding, incident support, dependency upgrades, model changes, exceptions, and service-level expectations.</a:t>
            </a:r>
          </a:p>
          <a:p xmlns:a="http://schemas.openxmlformats.org/drawingml/2006/main">
            <a:r>
              <a:t/>
            </a:r>
          </a:p>
          <a:p xmlns:a="http://schemas.openxmlformats.org/drawingml/2006/main">
            <a:r>
              <a:t>27. How will teams onboard their repositories?</a:t>
            </a:r>
          </a:p>
          <a:p xmlns:a="http://schemas.openxmlformats.org/drawingml/2006/main">
            <a:r>
              <a:t>Onboarding should include repository eligibility, credential setup, baseline configuration, context-package preparation, rule selection, non-blocking validation, quality review, and formal approval before any blocking behaviour is enabled.</a:t>
            </a:r>
          </a:p>
          <a:p xmlns:a="http://schemas.openxmlformats.org/drawingml/2006/main">
            <a:r>
              <a:t/>
            </a:r>
          </a:p>
          <a:p xmlns:a="http://schemas.openxmlformats.org/drawingml/2006/main">
            <a:r>
              <a:t>28. What project context must teams provide?</a:t>
            </a:r>
          </a:p>
          <a:p xmlns:a="http://schemas.openxmlformats.org/drawingml/2006/main">
            <a:r>
              <a:t>At minimum: architecture principles, module responsibilities, coding and testing standards, dependency constraints, critical business flows, known operational risks, and domain-specific review rules. Context quality directly affects the depth of review.</a:t>
            </a:r>
          </a:p>
          <a:p xmlns:a="http://schemas.openxmlformats.org/drawingml/2006/main">
            <a:r>
              <a:t/>
            </a:r>
          </a:p>
          <a:p xmlns:a="http://schemas.openxmlformats.org/drawingml/2006/main">
            <a:r>
              <a:t>29. Can one rule set work across all technologies?</a:t>
            </a:r>
          </a:p>
          <a:p xmlns:a="http://schemas.openxmlformats.org/drawingml/2006/main">
            <a:r>
              <a:t>No. A common governance baseline can be shared, but effective technical review requires language-, file-, framework-, and repository-specific rules. Configuration should support both central standards and controlled local extensions.</a:t>
            </a:r>
          </a:p>
          <a:p xmlns:a="http://schemas.openxmlformats.org/drawingml/2006/main">
            <a:r>
              <a:t/>
            </a:r>
          </a:p>
          <a:p xmlns:a="http://schemas.openxmlformats.org/drawingml/2006/main">
            <a:r>
              <a:t>30. How do we prevent teams from weakening mandatory controls?</a:t>
            </a:r>
          </a:p>
          <a:p xmlns:a="http://schemas.openxmlformats.org/drawingml/2006/main">
            <a:r>
              <a:t>Mandatory enterprise rules and thresholds should be centrally governed and non-overridable at team level. Teams may add stricter or project-specific rules, but exceptions to mandatory controls should follow an approved and auditable process.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Scale, concurrency &amp; overrides</a:t>
            </a:r>
          </a:p>
          <a:p xmlns:a="http://schemas.openxmlformats.org/drawingml/2006/main">
            <a:r>
              <a:t/>
            </a:r>
          </a:p>
          <a:p xmlns:a="http://schemas.openxmlformats.org/drawingml/2006/main">
            <a:r>
              <a:t>31. How does the agent handle large pull requests?</a:t>
            </a:r>
          </a:p>
          <a:p xmlns:a="http://schemas.openxmlformats.org/drawingml/2006/main">
            <a:r>
              <a:t>It should filter irrelevant or generated content, divide changes into coherent review units, retrieve only relevant surrounding context, and consolidate findings afterward. Extremely large pull requests may be marked incomplete or require manual review rather than receiving a misleading clean result.</a:t>
            </a:r>
          </a:p>
          <a:p xmlns:a="http://schemas.openxmlformats.org/drawingml/2006/main">
            <a:r>
              <a:t/>
            </a:r>
          </a:p>
          <a:p xmlns:a="http://schemas.openxmlformats.org/drawingml/2006/main">
            <a:r>
              <a:t>32. How does it handle new commits to an existing pull request?</a:t>
            </a:r>
          </a:p>
          <a:p xmlns:a="http://schemas.openxmlformats.org/drawingml/2006/main">
            <a:r>
              <a:t>Each run is tied to the latest commit. Findings are reconciled using stable identities: fixed issues are resolved, unchanged issues retain their threads, modified issues are updated, and new issues create new threads. Stale executions cannot overwrite current results.</a:t>
            </a:r>
          </a:p>
          <a:p xmlns:a="http://schemas.openxmlformats.org/drawingml/2006/main">
            <a:r>
              <a:t/>
            </a:r>
          </a:p>
          <a:p xmlns:a="http://schemas.openxmlformats.org/drawingml/2006/main">
            <a:r>
              <a:t>33. What prevents two simultaneous reviews from publishing conflicting results?</a:t>
            </a:r>
          </a:p>
          <a:p xmlns:a="http://schemas.openxmlformats.org/drawingml/2006/main">
            <a:r>
              <a:t>Commit binding, execution identifiers, optimistic state checks, and stale-run rejection should ensure that only the current review for the latest commit can publish the authoritative status and summary.</a:t>
            </a:r>
          </a:p>
          <a:p xmlns:a="http://schemas.openxmlformats.org/drawingml/2006/main">
            <a:r>
              <a:t/>
            </a:r>
          </a:p>
          <a:p xmlns:a="http://schemas.openxmlformats.org/drawingml/2006/main">
            <a:r>
              <a:t>34. Can reviewers override a blocking finding?</a:t>
            </a:r>
          </a:p>
          <a:p xmlns:a="http://schemas.openxmlformats.org/drawingml/2006/main">
            <a:r>
              <a:t>An authorised override may be supported, but it must require a reason, named ownership, and audit record. Overrides should be reported and periodically reviewed to identify weak rules or recurring risk acceptance.</a:t>
            </a:r>
          </a:p>
          <a:p xmlns:a="http://schemas.openxmlformats.org/drawingml/2006/main">
            <a:r>
              <a:t/>
            </a:r>
          </a:p>
          <a:p xmlns:a="http://schemas.openxmlformats.org/drawingml/2006/main">
            <a:r>
              <a:t>35. Will this slow down pull requests?</a:t>
            </a:r>
          </a:p>
          <a:p xmlns:a="http://schemas.openxmlformats.org/drawingml/2006/main">
            <a:r>
              <a:t>It could if execution is slow or noisy. The pilot should measure review duration and run analysis in parallel where safe. The tool should publish useful early feedback without becoming the longest step in the delivery process.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Pilot strategy &amp; leadership decision</a:t>
            </a:r>
          </a:p>
          <a:p xmlns:a="http://schemas.openxmlformats.org/drawingml/2006/main">
            <a:r>
              <a:t/>
            </a:r>
          </a:p>
          <a:p xmlns:a="http://schemas.openxmlformats.org/drawingml/2006/main">
            <a:r>
              <a:t>36. What is the rollout strategy?</a:t>
            </a:r>
          </a:p>
          <a:p xmlns:a="http://schemas.openxmlformats.org/drawingml/2006/main">
            <a:r>
              <a:t>Start with a small number of representative repositories in advisory mode. Establish baseline metrics, validate security and governance, tune rules, demonstrate stable incremental behaviour, and only then expand repositories or introduce carefully selected blocking controls.</a:t>
            </a:r>
          </a:p>
          <a:p xmlns:a="http://schemas.openxmlformats.org/drawingml/2006/main">
            <a:r>
              <a:t/>
            </a:r>
          </a:p>
          <a:p xmlns:a="http://schemas.openxmlformats.org/drawingml/2006/main">
            <a:r>
              <a:t>37. What are the criteria for stopping or pausing the pilot?</a:t>
            </a:r>
          </a:p>
          <a:p xmlns:a="http://schemas.openxmlformats.org/drawingml/2006/main">
            <a:r>
              <a:t>The pilot should pause if it exposes data unsafely, produces unacceptable false-positive rates, causes material delivery delays, cannot maintain accurate commit-bound results, lacks accountable support, or fails required security and AI-governance reviews.</a:t>
            </a:r>
          </a:p>
          <a:p xmlns:a="http://schemas.openxmlformats.org/drawingml/2006/main">
            <a:r>
              <a:t/>
            </a:r>
          </a:p>
          <a:p xmlns:a="http://schemas.openxmlformats.org/drawingml/2006/main">
            <a:r>
              <a:t>38. What decision is needed from leadership?</a:t>
            </a:r>
          </a:p>
          <a:p xmlns:a="http://schemas.openxmlformats.org/drawingml/2006/main">
            <a:r>
              <a:t>Support is needed for a controlled pilot, defined product ownership, participation from security and AI-governance teams, approved service authentication, AI Factory integration, and selected engineering teams to provide context and measurable feedback.</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bdd6ee2cbb40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7e02df1aa747a9" /><Relationship Type="http://schemas.openxmlformats.org/officeDocument/2006/relationships/slideLayout" Target="/ppt/slideLayouts/slideLayout1.xml" Id="R433de034887848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3de034887848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7399abc2994417" /><Relationship Type="http://schemas.openxmlformats.org/officeDocument/2006/relationships/notesSlide" Target="/ppt/notesSlides/notesSlide1.xml" Id="R986c73408d8240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93d54f09a24d5c" /><Relationship Type="http://schemas.openxmlformats.org/officeDocument/2006/relationships/notesSlide" Target="/ppt/notesSlides/notesSlide2.xml" Id="Rdf41b58dcd6543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a9a618119d4b4c" /><Relationship Type="http://schemas.openxmlformats.org/officeDocument/2006/relationships/notesSlide" Target="/ppt/notesSlides/notesSlide3.xml" Id="R1685765ca58541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5f4ba05a494163" /><Relationship Type="http://schemas.openxmlformats.org/officeDocument/2006/relationships/notesSlide" Target="/ppt/notesSlides/notesSlide4.xml" Id="Rcc80c44464d84e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49e0034c6d4c37" /><Relationship Type="http://schemas.openxmlformats.org/officeDocument/2006/relationships/image" Target="/ppt/media/image.png" Id="Rcc9229f4625f4491" /><Relationship Type="http://schemas.openxmlformats.org/officeDocument/2006/relationships/notesSlide" Target="/ppt/notesSlides/notesSlide5.xml" Id="R7e56692af95448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3cbe09c68f4e8b" /><Relationship Type="http://schemas.openxmlformats.org/officeDocument/2006/relationships/notesSlide" Target="/ppt/notesSlides/notesSlide6.xml" Id="R62043cd4df1e48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1ca41044774cd1" /><Relationship Type="http://schemas.openxmlformats.org/officeDocument/2006/relationships/notesSlide" Target="/ppt/notesSlides/notesSlide7.xml" Id="Reaf641690f5e4c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ad0108fe1c4840" /><Relationship Type="http://schemas.openxmlformats.org/officeDocument/2006/relationships/notesSlide" Target="/ppt/notesSlides/notesSlide8.xml" Id="R8801dec7d27f49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1d6194a60f44c8" /><Relationship Type="http://schemas.openxmlformats.org/officeDocument/2006/relationships/notesSlide" Target="/ppt/notesSlides/notesSlide9.xml" Id="Rc11199baffa545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66855d409d44ab" /><Relationship Type="http://schemas.openxmlformats.org/officeDocument/2006/relationships/notesSlide" Target="/ppt/notesSlides/notesSlide10.xml" Id="R83c2a1890e4f42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e05998459e4508" /><Relationship Type="http://schemas.openxmlformats.org/officeDocument/2006/relationships/notesSlide" Target="/ppt/notesSlides/notesSlide11.xml" Id="R19812a3c392346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abb36b65be4760" /><Relationship Type="http://schemas.openxmlformats.org/officeDocument/2006/relationships/notesSlide" Target="/ppt/notesSlides/notesSlide12.xml" Id="Rd96899d7b3714e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c55b90005441f1" /><Relationship Type="http://schemas.openxmlformats.org/officeDocument/2006/relationships/notesSlide" Target="/ppt/notesSlides/notesSlide13.xml" Id="R170abee0448043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cfe13ae4154530" /><Relationship Type="http://schemas.openxmlformats.org/officeDocument/2006/relationships/notesSlide" Target="/ppt/notesSlides/notesSlide14.xml" Id="R225f37c32c0c41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96e4de591a4438" /><Relationship Type="http://schemas.openxmlformats.org/officeDocument/2006/relationships/notesSlide" Target="/ppt/notesSlides/notesSlide15.xml" Id="Rfef5dd9bde9246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82bad7843624c72" /><Relationship Type="http://schemas.openxmlformats.org/officeDocument/2006/relationships/notesSlide" Target="/ppt/notesSlides/notesSlide16.xml" Id="R171a57d59dee49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67bc6ea7044d52" /><Relationship Type="http://schemas.openxmlformats.org/officeDocument/2006/relationships/notesSlide" Target="/ppt/notesSlides/notesSlide17.xml" Id="R1f0d15a1892540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85224f711334821" /><Relationship Type="http://schemas.openxmlformats.org/officeDocument/2006/relationships/notesSlide" Target="/ppt/notesSlides/notesSlide18.xml" Id="Rd5021738fcf14a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eyebrow">
            <a:extLst xmlns:a="http://schemas.openxmlformats.org/drawingml/2006/main">
              <a:ext uri="{FF2B5EF4-FFF2-40B4-BE49-F238E27FC236}">
                <a16:creationId xmlns:a16="http://schemas.microsoft.com/office/drawing/2014/main" id="{37E8BC65-3EC6-4C55-B1A3-7B8A664C336D}"/>
              </a:ext>
            </a:extLst>
          </p:cNvPr>
          <p:cNvSpPr>
            <a:spLocks xmlns:a="http://schemas.openxmlformats.org/drawingml/2006/main" noGrp="1"/>
          </p:cNvSpPr>
          <p:nvPr/>
        </p:nvSpPr>
        <p:spPr>
          <a:xfrm xmlns:a="http://schemas.openxmlformats.org/drawingml/2006/main">
            <a:off x="495300" y="4953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F6670"/>
                </a:solidFill>
                <a:latin typeface="Helvetica Neue"/>
                <a:ea typeface="Helvetica Neue"/>
                <a:cs typeface="Helvetica Neue"/>
              </a:defRPr>
            </a:pPr>
            <a:r>
              <a:rPr sz="1275" b="1">
                <a:solidFill>
                  <a:srgbClr val="5F6670"/>
                </a:solidFill>
                <a:latin typeface="Helvetica Neue"/>
                <a:ea typeface="Helvetica Neue"/>
                <a:cs typeface="Helvetica Neue"/>
              </a:rPr>
              <a:t>LEADERSHIP BRIEFING</a:t>
            </a:r>
          </a:p>
        </p:txBody>
      </p:sp>
      <p:sp>
        <p:nvSpPr>
          <p:cNvPr id="2" name="cover-title">
            <a:extLst xmlns:a="http://schemas.openxmlformats.org/drawingml/2006/main">
              <a:ext uri="{FF2B5EF4-FFF2-40B4-BE49-F238E27FC236}">
                <a16:creationId xmlns:a16="http://schemas.microsoft.com/office/drawing/2014/main" id="{42FA3FA7-AF4A-4FC2-A9B7-97FDBDF7C335}"/>
              </a:ext>
            </a:extLst>
          </p:cNvPr>
          <p:cNvSpPr>
            <a:spLocks xmlns:a="http://schemas.openxmlformats.org/drawingml/2006/main" noGrp="1"/>
          </p:cNvSpPr>
          <p:nvPr/>
        </p:nvSpPr>
        <p:spPr>
          <a:xfrm xmlns:a="http://schemas.openxmlformats.org/drawingml/2006/main">
            <a:off x="495300" y="1952625"/>
            <a:ext cx="8191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0">
                <a:solidFill>
                  <a:srgbClr val="101114"/>
                </a:solidFill>
                <a:latin typeface="Helvetica Neue"/>
                <a:ea typeface="Helvetica Neue"/>
                <a:cs typeface="Helvetica Neue"/>
              </a:defRPr>
            </a:pPr>
            <a:r>
              <a:rPr sz="5250" b="0">
                <a:solidFill>
                  <a:srgbClr val="101114"/>
                </a:solidFill>
                <a:latin typeface="Helvetica Neue"/>
                <a:ea typeface="Helvetica Neue"/>
                <a:cs typeface="Helvetica Neue"/>
              </a:rPr>
              <a:t>RATAN Code</a:t>
            </a:r>
          </a:p>
          <a:p xmlns:a="http://schemas.openxmlformats.org/drawingml/2006/main">
            <a:pPr algn="l">
              <a:defRPr sz="5250" b="0">
                <a:solidFill>
                  <a:srgbClr val="101114"/>
                </a:solidFill>
                <a:latin typeface="Helvetica Neue"/>
                <a:ea typeface="Helvetica Neue"/>
                <a:cs typeface="Helvetica Neue"/>
              </a:defRPr>
            </a:pPr>
            <a:r>
              <a:rPr sz="5250" b="0">
                <a:solidFill>
                  <a:srgbClr val="101114"/>
                </a:solidFill>
                <a:latin typeface="Helvetica Neue"/>
                <a:ea typeface="Helvetica Neue"/>
                <a:cs typeface="Helvetica Neue"/>
              </a:rPr>
              <a:t>Review Agent</a:t>
            </a:r>
          </a:p>
        </p:txBody>
      </p:sp>
      <p:sp>
        <p:nvSpPr>
          <p:cNvPr id="3" name="cover-accent">
            <a:extLst xmlns:a="http://schemas.openxmlformats.org/drawingml/2006/main">
              <a:ext uri="{FF2B5EF4-FFF2-40B4-BE49-F238E27FC236}">
                <a16:creationId xmlns:a16="http://schemas.microsoft.com/office/drawing/2014/main" id="{20A062A8-349C-4575-87D1-08095E37C66F}"/>
              </a:ext>
            </a:extLst>
          </p:cNvPr>
          <p:cNvSpPr>
            <a:spLocks xmlns:a="http://schemas.openxmlformats.org/drawingml/2006/main" noGrp="1"/>
          </p:cNvSpPr>
          <p:nvPr/>
        </p:nvSpPr>
        <p:spPr>
          <a:xfrm xmlns:a="http://schemas.openxmlformats.org/drawingml/2006/main">
            <a:off x="495300" y="4019550"/>
            <a:ext cx="12573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cover-subtitle">
            <a:extLst xmlns:a="http://schemas.openxmlformats.org/drawingml/2006/main">
              <a:ext uri="{FF2B5EF4-FFF2-40B4-BE49-F238E27FC236}">
                <a16:creationId xmlns:a16="http://schemas.microsoft.com/office/drawing/2014/main" id="{27E3F470-02BD-4347-A954-F2E018108F54}"/>
              </a:ext>
            </a:extLst>
          </p:cNvPr>
          <p:cNvSpPr>
            <a:spLocks xmlns:a="http://schemas.openxmlformats.org/drawingml/2006/main" noGrp="1"/>
          </p:cNvSpPr>
          <p:nvPr/>
        </p:nvSpPr>
        <p:spPr>
          <a:xfrm xmlns:a="http://schemas.openxmlformats.org/drawingml/2006/main">
            <a:off x="495300" y="4514850"/>
            <a:ext cx="7334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1114"/>
                </a:solidFill>
                <a:latin typeface="Helvetica Neue"/>
                <a:ea typeface="Helvetica Neue"/>
                <a:cs typeface="Helvetica Neue"/>
              </a:defRPr>
            </a:pPr>
            <a:r>
              <a:rPr sz="2100" b="0">
                <a:solidFill>
                  <a:srgbClr val="101114"/>
                </a:solidFill>
                <a:latin typeface="Helvetica Neue"/>
                <a:ea typeface="Helvetica Neue"/>
                <a:cs typeface="Helvetica Neue"/>
              </a:rPr>
              <a:t>Turning a proven AI-assisted review capability into a lightweight, configurable and governed engineering product</a:t>
            </a:r>
          </a:p>
        </p:txBody>
      </p:sp>
      <p:sp>
        <p:nvSpPr>
          <p:cNvPr id="5" name="cover-session">
            <a:extLst xmlns:a="http://schemas.openxmlformats.org/drawingml/2006/main">
              <a:ext uri="{FF2B5EF4-FFF2-40B4-BE49-F238E27FC236}">
                <a16:creationId xmlns:a16="http://schemas.microsoft.com/office/drawing/2014/main" id="{8EDB78DB-8065-43CC-B198-2BCA0F7DF55F}"/>
              </a:ext>
            </a:extLst>
          </p:cNvPr>
          <p:cNvSpPr>
            <a:spLocks xmlns:a="http://schemas.openxmlformats.org/drawingml/2006/main" noGrp="1"/>
          </p:cNvSpPr>
          <p:nvPr/>
        </p:nvSpPr>
        <p:spPr>
          <a:xfrm xmlns:a="http://schemas.openxmlformats.org/drawingml/2006/main">
            <a:off x="495300" y="61341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20-minute presentation · leadership Q&amp;A appendix</a:t>
            </a:r>
          </a:p>
        </p:txBody>
      </p:sp>
    </p:spTree>
    <p:extLst>
      <p:ext uri="{BB962C8B-B14F-4D97-AF65-F5344CB8AC3E}">
        <p14:creationId xmlns:p14="http://schemas.microsoft.com/office/powerpoint/2010/main" val="9469330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2">
            <a:extLst xmlns:a="http://schemas.openxmlformats.org/drawingml/2006/main">
              <a:ext uri="{FF2B5EF4-FFF2-40B4-BE49-F238E27FC236}">
                <a16:creationId xmlns:a16="http://schemas.microsoft.com/office/drawing/2014/main" id="{F91A52D5-595E-4185-8DAA-42966A14D9BC}"/>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2">
            <a:extLst xmlns:a="http://schemas.openxmlformats.org/drawingml/2006/main">
              <a:ext uri="{FF2B5EF4-FFF2-40B4-BE49-F238E27FC236}">
                <a16:creationId xmlns:a16="http://schemas.microsoft.com/office/drawing/2014/main" id="{C88EBC02-A463-4E21-999F-83055319B146}"/>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RATAN adds a consistent first review before human approval</a:t>
            </a:r>
          </a:p>
        </p:txBody>
      </p:sp>
      <p:sp>
        <p:nvSpPr>
          <p:cNvPr id="3" name="accent-2">
            <a:extLst xmlns:a="http://schemas.openxmlformats.org/drawingml/2006/main">
              <a:ext uri="{FF2B5EF4-FFF2-40B4-BE49-F238E27FC236}">
                <a16:creationId xmlns:a16="http://schemas.microsoft.com/office/drawing/2014/main" id="{51743D21-0737-4956-A64F-A4FE9E215A71}"/>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2">
            <a:extLst xmlns:a="http://schemas.openxmlformats.org/drawingml/2006/main">
              <a:ext uri="{FF2B5EF4-FFF2-40B4-BE49-F238E27FC236}">
                <a16:creationId xmlns:a16="http://schemas.microsoft.com/office/drawing/2014/main" id="{B54DFD7D-2431-4710-9458-9AC441E5B56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2</a:t>
            </a:r>
          </a:p>
        </p:txBody>
      </p:sp>
      <p:sp>
        <p:nvSpPr>
          <p:cNvPr id="5" name="definition-lead">
            <a:extLst xmlns:a="http://schemas.openxmlformats.org/drawingml/2006/main">
              <a:ext uri="{FF2B5EF4-FFF2-40B4-BE49-F238E27FC236}">
                <a16:creationId xmlns:a16="http://schemas.microsoft.com/office/drawing/2014/main" id="{DD249297-C9E5-4168-BB74-D4F8A3EAEC21}"/>
              </a:ext>
            </a:extLst>
          </p:cNvPr>
          <p:cNvSpPr>
            <a:spLocks xmlns:a="http://schemas.openxmlformats.org/drawingml/2006/main" noGrp="1"/>
          </p:cNvSpPr>
          <p:nvPr/>
        </p:nvSpPr>
        <p:spPr>
          <a:xfrm xmlns:a="http://schemas.openxmlformats.org/drawingml/2006/main">
            <a:off x="400050" y="1790700"/>
            <a:ext cx="571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An AI-assisted engineering control for Azure DevOps pull requests</a:t>
            </a:r>
          </a:p>
        </p:txBody>
      </p:sp>
      <p:sp>
        <p:nvSpPr>
          <p:cNvPr id="6" name="definition-body">
            <a:extLst xmlns:a="http://schemas.openxmlformats.org/drawingml/2006/main">
              <a:ext uri="{FF2B5EF4-FFF2-40B4-BE49-F238E27FC236}">
                <a16:creationId xmlns:a16="http://schemas.microsoft.com/office/drawing/2014/main" id="{E65DB64E-0C3D-44F8-9FC1-14F38525DDE8}"/>
              </a:ext>
            </a:extLst>
          </p:cNvPr>
          <p:cNvSpPr>
            <a:spLocks xmlns:a="http://schemas.openxmlformats.org/drawingml/2006/main" noGrp="1"/>
          </p:cNvSpPr>
          <p:nvPr/>
        </p:nvSpPr>
        <p:spPr>
          <a:xfrm xmlns:a="http://schemas.openxmlformats.org/drawingml/2006/main">
            <a:off x="400050" y="2990850"/>
            <a:ext cx="571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F6670"/>
                </a:solidFill>
                <a:latin typeface="Helvetica Neue"/>
                <a:ea typeface="Helvetica Neue"/>
                <a:cs typeface="Helvetica Neue"/>
              </a:defRPr>
            </a:pPr>
            <a:r>
              <a:rPr sz="1650" b="0">
                <a:solidFill>
                  <a:srgbClr val="5F6670"/>
                </a:solidFill>
                <a:latin typeface="Helvetica Neue"/>
                <a:ea typeface="Helvetica Neue"/>
                <a:cs typeface="Helvetica Neue"/>
              </a:rPr>
              <a:t>It applies configurable review standards and project context to identify defects, test gaps, security concerns and release risks—then publishes actionable evidence.</a:t>
            </a:r>
          </a:p>
        </p:txBody>
      </p:sp>
      <p:sp>
        <p:nvSpPr>
          <p:cNvPr id="7" name="human-panel">
            <a:extLst xmlns:a="http://schemas.openxmlformats.org/drawingml/2006/main">
              <a:ext uri="{FF2B5EF4-FFF2-40B4-BE49-F238E27FC236}">
                <a16:creationId xmlns:a16="http://schemas.microsoft.com/office/drawing/2014/main" id="{A0404C49-8B4F-43BA-AF8A-DDD024BB49C5}"/>
              </a:ext>
            </a:extLst>
          </p:cNvPr>
          <p:cNvSpPr>
            <a:spLocks xmlns:a="http://schemas.openxmlformats.org/drawingml/2006/main" noGrp="1"/>
          </p:cNvSpPr>
          <p:nvPr/>
        </p:nvSpPr>
        <p:spPr>
          <a:xfrm xmlns:a="http://schemas.openxmlformats.org/drawingml/2006/main">
            <a:off x="6724650" y="1790700"/>
            <a:ext cx="4667250" cy="3143250"/>
          </a:xfrm>
          <a:prstGeom xmlns:a="http://schemas.openxmlformats.org/drawingml/2006/main" prst="roundRect">
            <a:avLst>
              <a:gd name="adj" fmla="val 2424"/>
            </a:avLst>
          </a:prstGeom>
          <a:solidFill xmlns:a="http://schemas.openxmlformats.org/drawingml/2006/main">
            <a:srgbClr val="E7F5FC"/>
          </a:solidFill>
          <a:ln xmlns:a="http://schemas.openxmlformats.org/drawingml/2006/main" w="9525">
            <a:solidFill>
              <a:srgbClr val="B8BCC4"/>
            </a:solidFill>
            <a:prstDash val="solid"/>
          </a:ln>
        </p:spPr>
      </p:sp>
      <p:sp>
        <p:nvSpPr>
          <p:cNvPr id="8" name="human-label">
            <a:extLst xmlns:a="http://schemas.openxmlformats.org/drawingml/2006/main">
              <a:ext uri="{FF2B5EF4-FFF2-40B4-BE49-F238E27FC236}">
                <a16:creationId xmlns:a16="http://schemas.microsoft.com/office/drawing/2014/main" id="{0E51E01B-A009-4006-BD65-0327EB8BEEC6}"/>
              </a:ext>
            </a:extLst>
          </p:cNvPr>
          <p:cNvSpPr>
            <a:spLocks xmlns:a="http://schemas.openxmlformats.org/drawingml/2006/main" noGrp="1"/>
          </p:cNvSpPr>
          <p:nvPr/>
        </p:nvSpPr>
        <p:spPr>
          <a:xfrm xmlns:a="http://schemas.openxmlformats.org/drawingml/2006/main">
            <a:off x="7086600" y="21526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ACCOUNTABILITY</a:t>
            </a:r>
          </a:p>
        </p:txBody>
      </p:sp>
      <p:sp>
        <p:nvSpPr>
          <p:cNvPr id="9" name="human-title">
            <a:extLst xmlns:a="http://schemas.openxmlformats.org/drawingml/2006/main">
              <a:ext uri="{FF2B5EF4-FFF2-40B4-BE49-F238E27FC236}">
                <a16:creationId xmlns:a16="http://schemas.microsoft.com/office/drawing/2014/main" id="{E6208C47-1E0C-41FC-B266-94207D597E34}"/>
              </a:ext>
            </a:extLst>
          </p:cNvPr>
          <p:cNvSpPr>
            <a:spLocks xmlns:a="http://schemas.openxmlformats.org/drawingml/2006/main" noGrp="1"/>
          </p:cNvSpPr>
          <p:nvPr/>
        </p:nvSpPr>
        <p:spPr>
          <a:xfrm xmlns:a="http://schemas.openxmlformats.org/drawingml/2006/main">
            <a:off x="7086600" y="2628900"/>
            <a:ext cx="3810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Human reviewers remain responsible</a:t>
            </a:r>
          </a:p>
        </p:txBody>
      </p:sp>
      <p:sp>
        <p:nvSpPr>
          <p:cNvPr id="10" name="human-body">
            <a:extLst xmlns:a="http://schemas.openxmlformats.org/drawingml/2006/main">
              <a:ext uri="{FF2B5EF4-FFF2-40B4-BE49-F238E27FC236}">
                <a16:creationId xmlns:a16="http://schemas.microsoft.com/office/drawing/2014/main" id="{95C2F303-5932-4327-AA2F-248753A649CB}"/>
              </a:ext>
            </a:extLst>
          </p:cNvPr>
          <p:cNvSpPr>
            <a:spLocks xmlns:a="http://schemas.openxmlformats.org/drawingml/2006/main" noGrp="1"/>
          </p:cNvSpPr>
          <p:nvPr/>
        </p:nvSpPr>
        <p:spPr>
          <a:xfrm xmlns:a="http://schemas.openxmlformats.org/drawingml/2006/main">
            <a:off x="7086600" y="3695700"/>
            <a:ext cx="381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Final approval, architecture, business behaviour, operational impact and risk acceptance stay with people.</a:t>
            </a:r>
          </a:p>
        </p:txBody>
      </p:sp>
    </p:spTree>
    <p:extLst>
      <p:ext uri="{BB962C8B-B14F-4D97-AF65-F5344CB8AC3E}">
        <p14:creationId xmlns:p14="http://schemas.microsoft.com/office/powerpoint/2010/main" val="4530258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yebrow-3">
            <a:extLst xmlns:a="http://schemas.openxmlformats.org/drawingml/2006/main">
              <a:ext uri="{FF2B5EF4-FFF2-40B4-BE49-F238E27FC236}">
                <a16:creationId xmlns:a16="http://schemas.microsoft.com/office/drawing/2014/main" id="{926E9B21-8A1A-4BE3-AA0E-887E17640702}"/>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3">
            <a:extLst xmlns:a="http://schemas.openxmlformats.org/drawingml/2006/main">
              <a:ext uri="{FF2B5EF4-FFF2-40B4-BE49-F238E27FC236}">
                <a16:creationId xmlns:a16="http://schemas.microsoft.com/office/drawing/2014/main" id="{7D6DB44D-4FC9-4EFB-B986-0E6D7250163A}"/>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Review effort repeats, coverage varies and risks arrive late</a:t>
            </a:r>
          </a:p>
        </p:txBody>
      </p:sp>
      <p:sp>
        <p:nvSpPr>
          <p:cNvPr id="3" name="accent-3">
            <a:extLst xmlns:a="http://schemas.openxmlformats.org/drawingml/2006/main">
              <a:ext uri="{FF2B5EF4-FFF2-40B4-BE49-F238E27FC236}">
                <a16:creationId xmlns:a16="http://schemas.microsoft.com/office/drawing/2014/main" id="{4A8D8BE0-5AB7-4D27-84CB-595713AD5AF8}"/>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3">
            <a:extLst xmlns:a="http://schemas.openxmlformats.org/drawingml/2006/main">
              <a:ext uri="{FF2B5EF4-FFF2-40B4-BE49-F238E27FC236}">
                <a16:creationId xmlns:a16="http://schemas.microsoft.com/office/drawing/2014/main" id="{487FABB8-F39B-4BF8-B853-4760C7B8D5FB}"/>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3</a:t>
            </a:r>
          </a:p>
        </p:txBody>
      </p:sp>
      <p:sp>
        <p:nvSpPr>
          <p:cNvPr id="5" name="problem-num-0">
            <a:extLst xmlns:a="http://schemas.openxmlformats.org/drawingml/2006/main">
              <a:ext uri="{FF2B5EF4-FFF2-40B4-BE49-F238E27FC236}">
                <a16:creationId xmlns:a16="http://schemas.microsoft.com/office/drawing/2014/main" id="{CDBF0E27-73CC-4340-94A3-0EDE983A214C}"/>
              </a:ext>
            </a:extLst>
          </p:cNvPr>
          <p:cNvSpPr>
            <a:spLocks xmlns:a="http://schemas.openxmlformats.org/drawingml/2006/main" noGrp="1"/>
          </p:cNvSpPr>
          <p:nvPr/>
        </p:nvSpPr>
        <p:spPr>
          <a:xfrm xmlns:a="http://schemas.openxmlformats.org/drawingml/2006/main">
            <a:off x="400050" y="2000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01</a:t>
            </a:r>
          </a:p>
        </p:txBody>
      </p:sp>
      <p:sp>
        <p:nvSpPr>
          <p:cNvPr id="6" name="problem-title-0">
            <a:extLst xmlns:a="http://schemas.openxmlformats.org/drawingml/2006/main">
              <a:ext uri="{FF2B5EF4-FFF2-40B4-BE49-F238E27FC236}">
                <a16:creationId xmlns:a16="http://schemas.microsoft.com/office/drawing/2014/main" id="{451D0D45-16C4-46FF-9CEF-63B6C82C8185}"/>
              </a:ext>
            </a:extLst>
          </p:cNvPr>
          <p:cNvSpPr>
            <a:spLocks xmlns:a="http://schemas.openxmlformats.org/drawingml/2006/main" noGrp="1"/>
          </p:cNvSpPr>
          <p:nvPr/>
        </p:nvSpPr>
        <p:spPr>
          <a:xfrm xmlns:a="http://schemas.openxmlformats.org/drawingml/2006/main">
            <a:off x="40005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114"/>
                </a:solidFill>
                <a:latin typeface="Helvetica Neue"/>
                <a:ea typeface="Helvetica Neue"/>
                <a:cs typeface="Helvetica Neue"/>
              </a:defRPr>
            </a:pPr>
            <a:r>
              <a:rPr sz="2100" b="1">
                <a:solidFill>
                  <a:srgbClr val="101114"/>
                </a:solidFill>
                <a:latin typeface="Helvetica Neue"/>
                <a:ea typeface="Helvetica Neue"/>
                <a:cs typeface="Helvetica Neue"/>
              </a:rPr>
              <a:t>High review effort</a:t>
            </a:r>
          </a:p>
        </p:txBody>
      </p:sp>
      <p:sp>
        <p:nvSpPr>
          <p:cNvPr id="7" name="problem-body-0">
            <a:extLst xmlns:a="http://schemas.openxmlformats.org/drawingml/2006/main">
              <a:ext uri="{FF2B5EF4-FFF2-40B4-BE49-F238E27FC236}">
                <a16:creationId xmlns:a16="http://schemas.microsoft.com/office/drawing/2014/main" id="{AE8ACC76-E56D-4836-9A25-A8161B3F4FFB}"/>
              </a:ext>
            </a:extLst>
          </p:cNvPr>
          <p:cNvSpPr>
            <a:spLocks xmlns:a="http://schemas.openxmlformats.org/drawingml/2006/main" noGrp="1"/>
          </p:cNvSpPr>
          <p:nvPr/>
        </p:nvSpPr>
        <p:spPr>
          <a:xfrm xmlns:a="http://schemas.openxmlformats.org/drawingml/2006/main">
            <a:off x="400050" y="3219450"/>
            <a:ext cx="3333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rPr sz="1425" b="0">
                <a:solidFill>
                  <a:srgbClr val="5F6670"/>
                </a:solidFill>
                <a:latin typeface="Helvetica Neue"/>
                <a:ea typeface="Helvetica Neue"/>
                <a:cs typeface="Helvetica Neue"/>
              </a:rPr>
              <a:t>Experienced engineers repeat standard checks across every pull request.</a:t>
            </a:r>
          </a:p>
        </p:txBody>
      </p:sp>
      <p:sp>
        <p:nvSpPr>
          <p:cNvPr id="8" name="problem-num-1">
            <a:extLst xmlns:a="http://schemas.openxmlformats.org/drawingml/2006/main">
              <a:ext uri="{FF2B5EF4-FFF2-40B4-BE49-F238E27FC236}">
                <a16:creationId xmlns:a16="http://schemas.microsoft.com/office/drawing/2014/main" id="{DCF604B1-4A1A-4BCE-9415-F546BCB41409}"/>
              </a:ext>
            </a:extLst>
          </p:cNvPr>
          <p:cNvSpPr>
            <a:spLocks xmlns:a="http://schemas.openxmlformats.org/drawingml/2006/main" noGrp="1"/>
          </p:cNvSpPr>
          <p:nvPr/>
        </p:nvSpPr>
        <p:spPr>
          <a:xfrm xmlns:a="http://schemas.openxmlformats.org/drawingml/2006/main">
            <a:off x="4229100" y="2000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02</a:t>
            </a:r>
          </a:p>
        </p:txBody>
      </p:sp>
      <p:sp>
        <p:nvSpPr>
          <p:cNvPr id="9" name="problem-title-1">
            <a:extLst xmlns:a="http://schemas.openxmlformats.org/drawingml/2006/main">
              <a:ext uri="{FF2B5EF4-FFF2-40B4-BE49-F238E27FC236}">
                <a16:creationId xmlns:a16="http://schemas.microsoft.com/office/drawing/2014/main" id="{58A08AB6-2A07-4203-A8B5-64DABF5679A3}"/>
              </a:ext>
            </a:extLst>
          </p:cNvPr>
          <p:cNvSpPr>
            <a:spLocks xmlns:a="http://schemas.openxmlformats.org/drawingml/2006/main" noGrp="1"/>
          </p:cNvSpPr>
          <p:nvPr/>
        </p:nvSpPr>
        <p:spPr>
          <a:xfrm xmlns:a="http://schemas.openxmlformats.org/drawingml/2006/main">
            <a:off x="422910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114"/>
                </a:solidFill>
                <a:latin typeface="Helvetica Neue"/>
                <a:ea typeface="Helvetica Neue"/>
                <a:cs typeface="Helvetica Neue"/>
              </a:defRPr>
            </a:pPr>
            <a:r>
              <a:rPr sz="2100" b="1">
                <a:solidFill>
                  <a:srgbClr val="101114"/>
                </a:solidFill>
                <a:latin typeface="Helvetica Neue"/>
                <a:ea typeface="Helvetica Neue"/>
                <a:cs typeface="Helvetica Neue"/>
              </a:rPr>
              <a:t>Inconsistent coverage</a:t>
            </a:r>
          </a:p>
        </p:txBody>
      </p:sp>
      <p:sp>
        <p:nvSpPr>
          <p:cNvPr id="10" name="problem-body-1">
            <a:extLst xmlns:a="http://schemas.openxmlformats.org/drawingml/2006/main">
              <a:ext uri="{FF2B5EF4-FFF2-40B4-BE49-F238E27FC236}">
                <a16:creationId xmlns:a16="http://schemas.microsoft.com/office/drawing/2014/main" id="{E0642682-EC98-4E65-825C-CE16F6B379C7}"/>
              </a:ext>
            </a:extLst>
          </p:cNvPr>
          <p:cNvSpPr>
            <a:spLocks xmlns:a="http://schemas.openxmlformats.org/drawingml/2006/main" noGrp="1"/>
          </p:cNvSpPr>
          <p:nvPr/>
        </p:nvSpPr>
        <p:spPr>
          <a:xfrm xmlns:a="http://schemas.openxmlformats.org/drawingml/2006/main">
            <a:off x="4229100" y="3219450"/>
            <a:ext cx="3333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rPr sz="1425" b="0">
                <a:solidFill>
                  <a:srgbClr val="5F6670"/>
                </a:solidFill>
                <a:latin typeface="Helvetica Neue"/>
                <a:ea typeface="Helvetica Neue"/>
                <a:cs typeface="Helvetica Neue"/>
              </a:rPr>
              <a:t>Depth varies with reviewer experience, time, repository knowledge and technology.</a:t>
            </a:r>
          </a:p>
        </p:txBody>
      </p:sp>
      <p:sp>
        <p:nvSpPr>
          <p:cNvPr id="11" name="problem-num-2">
            <a:extLst xmlns:a="http://schemas.openxmlformats.org/drawingml/2006/main">
              <a:ext uri="{FF2B5EF4-FFF2-40B4-BE49-F238E27FC236}">
                <a16:creationId xmlns:a16="http://schemas.microsoft.com/office/drawing/2014/main" id="{5495C052-B0EA-42AD-BC40-D0C9052A85F9}"/>
              </a:ext>
            </a:extLst>
          </p:cNvPr>
          <p:cNvSpPr>
            <a:spLocks xmlns:a="http://schemas.openxmlformats.org/drawingml/2006/main" noGrp="1"/>
          </p:cNvSpPr>
          <p:nvPr/>
        </p:nvSpPr>
        <p:spPr>
          <a:xfrm xmlns:a="http://schemas.openxmlformats.org/drawingml/2006/main">
            <a:off x="8058150" y="2000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03</a:t>
            </a:r>
          </a:p>
        </p:txBody>
      </p:sp>
      <p:sp>
        <p:nvSpPr>
          <p:cNvPr id="12" name="problem-title-2">
            <a:extLst xmlns:a="http://schemas.openxmlformats.org/drawingml/2006/main">
              <a:ext uri="{FF2B5EF4-FFF2-40B4-BE49-F238E27FC236}">
                <a16:creationId xmlns:a16="http://schemas.microsoft.com/office/drawing/2014/main" id="{C412E992-BFB4-4AB5-A180-D480CFE311E5}"/>
              </a:ext>
            </a:extLst>
          </p:cNvPr>
          <p:cNvSpPr>
            <a:spLocks xmlns:a="http://schemas.openxmlformats.org/drawingml/2006/main" noGrp="1"/>
          </p:cNvSpPr>
          <p:nvPr/>
        </p:nvSpPr>
        <p:spPr>
          <a:xfrm xmlns:a="http://schemas.openxmlformats.org/drawingml/2006/main">
            <a:off x="805815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114"/>
                </a:solidFill>
                <a:latin typeface="Helvetica Neue"/>
                <a:ea typeface="Helvetica Neue"/>
                <a:cs typeface="Helvetica Neue"/>
              </a:defRPr>
            </a:pPr>
            <a:r>
              <a:rPr sz="2100" b="1">
                <a:solidFill>
                  <a:srgbClr val="101114"/>
                </a:solidFill>
                <a:latin typeface="Helvetica Neue"/>
                <a:ea typeface="Helvetica Neue"/>
                <a:cs typeface="Helvetica Neue"/>
              </a:rPr>
              <a:t>Late release risks</a:t>
            </a:r>
          </a:p>
        </p:txBody>
      </p:sp>
      <p:sp>
        <p:nvSpPr>
          <p:cNvPr id="13" name="problem-body-2">
            <a:extLst xmlns:a="http://schemas.openxmlformats.org/drawingml/2006/main">
              <a:ext uri="{FF2B5EF4-FFF2-40B4-BE49-F238E27FC236}">
                <a16:creationId xmlns:a16="http://schemas.microsoft.com/office/drawing/2014/main" id="{F3A96077-36FD-4744-B288-ECE3DE2EA754}"/>
              </a:ext>
            </a:extLst>
          </p:cNvPr>
          <p:cNvSpPr>
            <a:spLocks xmlns:a="http://schemas.openxmlformats.org/drawingml/2006/main" noGrp="1"/>
          </p:cNvSpPr>
          <p:nvPr/>
        </p:nvSpPr>
        <p:spPr>
          <a:xfrm xmlns:a="http://schemas.openxmlformats.org/drawingml/2006/main">
            <a:off x="8058150" y="3219450"/>
            <a:ext cx="3333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670"/>
                </a:solidFill>
                <a:latin typeface="Helvetica Neue"/>
                <a:ea typeface="Helvetica Neue"/>
                <a:cs typeface="Helvetica Neue"/>
              </a:defRPr>
            </a:pPr>
            <a:r>
              <a:rPr sz="1425" b="0">
                <a:solidFill>
                  <a:srgbClr val="5F6670"/>
                </a:solidFill>
                <a:latin typeface="Helvetica Neue"/>
                <a:ea typeface="Helvetica Neue"/>
                <a:cs typeface="Helvetica Neue"/>
              </a:rPr>
              <a:t>Coverage gaps and vulnerabilities surface during release validation—when rework costs more.</a:t>
            </a:r>
          </a:p>
        </p:txBody>
      </p:sp>
      <p:sp>
        <p:nvSpPr>
          <p:cNvPr id="14" name="v1-band">
            <a:extLst xmlns:a="http://schemas.openxmlformats.org/drawingml/2006/main">
              <a:ext uri="{FF2B5EF4-FFF2-40B4-BE49-F238E27FC236}">
                <a16:creationId xmlns:a16="http://schemas.microsoft.com/office/drawing/2014/main" id="{3471F318-DA6D-4AF0-B1DD-E1359AB8E91E}"/>
              </a:ext>
            </a:extLst>
          </p:cNvPr>
          <p:cNvSpPr>
            <a:spLocks xmlns:a="http://schemas.openxmlformats.org/drawingml/2006/main" noGrp="1"/>
          </p:cNvSpPr>
          <p:nvPr/>
        </p:nvSpPr>
        <p:spPr>
          <a:xfrm xmlns:a="http://schemas.openxmlformats.org/drawingml/2006/main">
            <a:off x="400050" y="4953000"/>
            <a:ext cx="11010900" cy="9525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5" name="v1-label">
            <a:extLst xmlns:a="http://schemas.openxmlformats.org/drawingml/2006/main">
              <a:ext uri="{FF2B5EF4-FFF2-40B4-BE49-F238E27FC236}">
                <a16:creationId xmlns:a16="http://schemas.microsoft.com/office/drawing/2014/main" id="{5D49FC53-0171-44FB-AB1B-6BFD29A88D47}"/>
              </a:ext>
            </a:extLst>
          </p:cNvPr>
          <p:cNvSpPr>
            <a:spLocks xmlns:a="http://schemas.openxmlformats.org/drawingml/2006/main" noGrp="1"/>
          </p:cNvSpPr>
          <p:nvPr/>
        </p:nvSpPr>
        <p:spPr>
          <a:xfrm xmlns:a="http://schemas.openxmlformats.org/drawingml/2006/main">
            <a:off x="628650" y="52197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V1</a:t>
            </a:r>
          </a:p>
        </p:txBody>
      </p:sp>
      <p:sp>
        <p:nvSpPr>
          <p:cNvPr id="16" name="v1-body">
            <a:extLst xmlns:a="http://schemas.openxmlformats.org/drawingml/2006/main">
              <a:ext uri="{FF2B5EF4-FFF2-40B4-BE49-F238E27FC236}">
                <a16:creationId xmlns:a16="http://schemas.microsoft.com/office/drawing/2014/main" id="{D173A889-8479-4F0C-9B0C-84F647F4C1B5}"/>
              </a:ext>
            </a:extLst>
          </p:cNvPr>
          <p:cNvSpPr>
            <a:spLocks xmlns:a="http://schemas.openxmlformats.org/drawingml/2006/main" noGrp="1"/>
          </p:cNvSpPr>
          <p:nvPr/>
        </p:nvSpPr>
        <p:spPr>
          <a:xfrm xmlns:a="http://schemas.openxmlformats.org/drawingml/2006/main">
            <a:off x="1257300" y="5181600"/>
            <a:ext cx="962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01114"/>
                </a:solidFill>
                <a:latin typeface="Helvetica Neue"/>
                <a:ea typeface="Helvetica Neue"/>
                <a:cs typeface="Helvetica Neue"/>
              </a:defRPr>
            </a:pPr>
            <a:r>
              <a:rPr sz="1650" b="0">
                <a:solidFill>
                  <a:srgbClr val="101114"/>
                </a:solidFill>
                <a:latin typeface="Helvetica Neue"/>
                <a:ea typeface="Helvetica Neue"/>
                <a:cs typeface="Helvetica Neue"/>
              </a:rPr>
              <a:t>A continuously running service moved structured findings earlier—before pull request approval.</a:t>
            </a:r>
          </a:p>
        </p:txBody>
      </p:sp>
    </p:spTree>
    <p:extLst>
      <p:ext uri="{BB962C8B-B14F-4D97-AF65-F5344CB8AC3E}">
        <p14:creationId xmlns:p14="http://schemas.microsoft.com/office/powerpoint/2010/main" val="7227832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4">
            <a:extLst xmlns:a="http://schemas.openxmlformats.org/drawingml/2006/main">
              <a:ext uri="{FF2B5EF4-FFF2-40B4-BE49-F238E27FC236}">
                <a16:creationId xmlns:a16="http://schemas.microsoft.com/office/drawing/2014/main" id="{4C5529B3-B590-45D8-9849-9DCE46A8D1D9}"/>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4">
            <a:extLst xmlns:a="http://schemas.openxmlformats.org/drawingml/2006/main">
              <a:ext uri="{FF2B5EF4-FFF2-40B4-BE49-F238E27FC236}">
                <a16:creationId xmlns:a16="http://schemas.microsoft.com/office/drawing/2014/main" id="{744F4F4B-74A5-48A3-B337-6A2E8E9D9761}"/>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V1 proved value—and exposed the product gaps</a:t>
            </a:r>
          </a:p>
        </p:txBody>
      </p:sp>
      <p:sp>
        <p:nvSpPr>
          <p:cNvPr id="3" name="accent-4">
            <a:extLst xmlns:a="http://schemas.openxmlformats.org/drawingml/2006/main">
              <a:ext uri="{FF2B5EF4-FFF2-40B4-BE49-F238E27FC236}">
                <a16:creationId xmlns:a16="http://schemas.microsoft.com/office/drawing/2014/main" id="{6AA17C13-8A88-4E9B-B3D7-2D3777830A4A}"/>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4">
            <a:extLst xmlns:a="http://schemas.openxmlformats.org/drawingml/2006/main">
              <a:ext uri="{FF2B5EF4-FFF2-40B4-BE49-F238E27FC236}">
                <a16:creationId xmlns:a16="http://schemas.microsoft.com/office/drawing/2014/main" id="{DFFA6590-DA93-4BEE-AC04-7DD9DD9A912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4</a:t>
            </a:r>
          </a:p>
        </p:txBody>
      </p:sp>
      <p:sp>
        <p:nvSpPr>
          <p:cNvPr id="5" name="outcome-bg">
            <a:extLst xmlns:a="http://schemas.openxmlformats.org/drawingml/2006/main">
              <a:ext uri="{FF2B5EF4-FFF2-40B4-BE49-F238E27FC236}">
                <a16:creationId xmlns:a16="http://schemas.microsoft.com/office/drawing/2014/main" id="{74ED0ECC-743F-49E5-8ACF-3310743A8D99}"/>
              </a:ext>
            </a:extLst>
          </p:cNvPr>
          <p:cNvSpPr>
            <a:spLocks xmlns:a="http://schemas.openxmlformats.org/drawingml/2006/main" noGrp="1"/>
          </p:cNvSpPr>
          <p:nvPr/>
        </p:nvSpPr>
        <p:spPr>
          <a:xfrm xmlns:a="http://schemas.openxmlformats.org/drawingml/2006/main">
            <a:off x="400050" y="1828800"/>
            <a:ext cx="5219700" cy="3810000"/>
          </a:xfrm>
          <a:prstGeom xmlns:a="http://schemas.openxmlformats.org/drawingml/2006/main" prst="rect">
            <a:avLst/>
          </a:prstGeom>
          <a:solidFill xmlns:a="http://schemas.openxmlformats.org/drawingml/2006/main">
            <a:srgbClr val="E7F5FC"/>
          </a:solidFill>
          <a:ln xmlns:a="http://schemas.openxmlformats.org/drawingml/2006/main" w="0">
            <a:noFill/>
            <a:prstDash val="solid"/>
          </a:ln>
        </p:spPr>
      </p:sp>
      <p:sp>
        <p:nvSpPr>
          <p:cNvPr id="6" name="lesson-bg">
            <a:extLst xmlns:a="http://schemas.openxmlformats.org/drawingml/2006/main">
              <a:ext uri="{FF2B5EF4-FFF2-40B4-BE49-F238E27FC236}">
                <a16:creationId xmlns:a16="http://schemas.microsoft.com/office/drawing/2014/main" id="{C1025760-AC4E-4B1C-9911-C5FFE30CC77E}"/>
              </a:ext>
            </a:extLst>
          </p:cNvPr>
          <p:cNvSpPr>
            <a:spLocks xmlns:a="http://schemas.openxmlformats.org/drawingml/2006/main" noGrp="1"/>
          </p:cNvSpPr>
          <p:nvPr/>
        </p:nvSpPr>
        <p:spPr>
          <a:xfrm xmlns:a="http://schemas.openxmlformats.org/drawingml/2006/main">
            <a:off x="6019800" y="1828800"/>
            <a:ext cx="5391150" cy="38100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7" name="outcome-head">
            <a:extLst xmlns:a="http://schemas.openxmlformats.org/drawingml/2006/main">
              <a:ext uri="{FF2B5EF4-FFF2-40B4-BE49-F238E27FC236}">
                <a16:creationId xmlns:a16="http://schemas.microsoft.com/office/drawing/2014/main" id="{340AEECA-4647-4BD4-A871-D67FA70506EC}"/>
              </a:ext>
            </a:extLst>
          </p:cNvPr>
          <p:cNvSpPr>
            <a:spLocks xmlns:a="http://schemas.openxmlformats.org/drawingml/2006/main" noGrp="1"/>
          </p:cNvSpPr>
          <p:nvPr/>
        </p:nvSpPr>
        <p:spPr>
          <a:xfrm xmlns:a="http://schemas.openxmlformats.org/drawingml/2006/main">
            <a:off x="685800" y="2114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PROVEN OUTCOMES</a:t>
            </a:r>
          </a:p>
        </p:txBody>
      </p:sp>
      <p:sp>
        <p:nvSpPr>
          <p:cNvPr id="8" name="outcome-list">
            <a:extLst xmlns:a="http://schemas.openxmlformats.org/drawingml/2006/main">
              <a:ext uri="{FF2B5EF4-FFF2-40B4-BE49-F238E27FC236}">
                <a16:creationId xmlns:a16="http://schemas.microsoft.com/office/drawing/2014/main" id="{8BA5DB49-C12A-488F-BB02-BE162E7E4911}"/>
              </a:ext>
            </a:extLst>
          </p:cNvPr>
          <p:cNvSpPr>
            <a:spLocks xmlns:a="http://schemas.openxmlformats.org/drawingml/2006/main" noGrp="1"/>
          </p:cNvSpPr>
          <p:nvPr/>
        </p:nvSpPr>
        <p:spPr>
          <a:xfrm xmlns:a="http://schemas.openxmlformats.org/drawingml/2006/main">
            <a:off x="685800" y="2628900"/>
            <a:ext cx="4476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Issues and test gaps surfaced before approval</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Less reviewer time spent on repetitive checks</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A more consistent baseline across repositories</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More time to remediate before release validation</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Potential to improve release confidence</a:t>
            </a:r>
          </a:p>
        </p:txBody>
      </p:sp>
      <p:sp>
        <p:nvSpPr>
          <p:cNvPr id="9" name="lesson-head">
            <a:extLst xmlns:a="http://schemas.openxmlformats.org/drawingml/2006/main">
              <a:ext uri="{FF2B5EF4-FFF2-40B4-BE49-F238E27FC236}">
                <a16:creationId xmlns:a16="http://schemas.microsoft.com/office/drawing/2014/main" id="{EA0208AC-9C2A-4AB2-9622-1D26E1C26204}"/>
              </a:ext>
            </a:extLst>
          </p:cNvPr>
          <p:cNvSpPr>
            <a:spLocks xmlns:a="http://schemas.openxmlformats.org/drawingml/2006/main" noGrp="1"/>
          </p:cNvSpPr>
          <p:nvPr/>
        </p:nvSpPr>
        <p:spPr>
          <a:xfrm xmlns:a="http://schemas.openxmlformats.org/drawingml/2006/main">
            <a:off x="6305550" y="21145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F6670"/>
                </a:solidFill>
                <a:latin typeface="Helvetica Neue"/>
                <a:ea typeface="Helvetica Neue"/>
                <a:cs typeface="Helvetica Neue"/>
              </a:defRPr>
            </a:pPr>
            <a:r>
              <a:rPr sz="1200" b="1">
                <a:solidFill>
                  <a:srgbClr val="5F6670"/>
                </a:solidFill>
                <a:latin typeface="Helvetica Neue"/>
                <a:ea typeface="Helvetica Neue"/>
                <a:cs typeface="Helvetica Neue"/>
              </a:rPr>
              <a:t>PRODUCT LESSONS</a:t>
            </a:r>
          </a:p>
        </p:txBody>
      </p:sp>
      <p:sp>
        <p:nvSpPr>
          <p:cNvPr id="10" name="lesson-list">
            <a:extLst xmlns:a="http://schemas.openxmlformats.org/drawingml/2006/main">
              <a:ext uri="{FF2B5EF4-FFF2-40B4-BE49-F238E27FC236}">
                <a16:creationId xmlns:a16="http://schemas.microsoft.com/office/drawing/2014/main" id="{417BA5DB-FECE-46B5-87DD-AF10D5D60353}"/>
              </a:ext>
            </a:extLst>
          </p:cNvPr>
          <p:cNvSpPr>
            <a:spLocks xmlns:a="http://schemas.openxmlformats.org/drawingml/2006/main" noGrp="1"/>
          </p:cNvSpPr>
          <p:nvPr/>
        </p:nvSpPr>
        <p:spPr>
          <a:xfrm xmlns:a="http://schemas.openxmlformats.org/drawingml/2006/main">
            <a:off x="6305550" y="2628900"/>
            <a:ext cx="4572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Rules were hard to tailor by repository and technology</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Project and architecture context was hard to inject</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Feedback and false-positive signals were not systematic</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Service and PostgreSQL dependencies raised adoption cost</a:t>
            </a:r>
          </a:p>
          <a:p xmlns:a="http://schemas.openxmlformats.org/drawingml/2006/main">
            <a:pPr algn="l">
              <a:defRPr sz="1425" b="0">
                <a:solidFill>
                  <a:srgbClr val="101114"/>
                </a:solidFill>
                <a:latin typeface="Helvetica Neue"/>
                <a:ea typeface="Helvetica Neue"/>
                <a:cs typeface="Helvetica Neue"/>
              </a:defRPr>
            </a:pPr>
            <a:r>
              <a:rPr sz="1425" b="0">
                <a:solidFill>
                  <a:srgbClr val="101114"/>
                </a:solidFill>
                <a:latin typeface="Helvetica Neue"/>
                <a:ea typeface="Helvetica Neue"/>
                <a:cs typeface="Helvetica Neue"/>
              </a:rPr>
              <a:t>• Incremental changes needed a stronger finding lifecycle</a:t>
            </a:r>
          </a:p>
        </p:txBody>
      </p:sp>
      <p:sp>
        <p:nvSpPr>
          <p:cNvPr id="11" name="outcome-takeaway">
            <a:extLst xmlns:a="http://schemas.openxmlformats.org/drawingml/2006/main">
              <a:ext uri="{FF2B5EF4-FFF2-40B4-BE49-F238E27FC236}">
                <a16:creationId xmlns:a16="http://schemas.microsoft.com/office/drawing/2014/main" id="{7CA0158C-2275-44F4-B767-C7C784B512E2}"/>
              </a:ext>
            </a:extLst>
          </p:cNvPr>
          <p:cNvSpPr>
            <a:spLocks xmlns:a="http://schemas.openxmlformats.org/drawingml/2006/main" noGrp="1"/>
          </p:cNvSpPr>
          <p:nvPr/>
        </p:nvSpPr>
        <p:spPr>
          <a:xfrm xmlns:a="http://schemas.openxmlformats.org/drawingml/2006/main">
            <a:off x="685800" y="520065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01114"/>
                </a:solidFill>
                <a:latin typeface="Helvetica Neue"/>
                <a:ea typeface="Helvetica Neue"/>
                <a:cs typeface="Helvetica Neue"/>
              </a:defRPr>
            </a:pPr>
            <a:r>
              <a:rPr sz="1500" b="1">
                <a:solidFill>
                  <a:srgbClr val="101114"/>
                </a:solidFill>
                <a:latin typeface="Helvetica Neue"/>
                <a:ea typeface="Helvetica Neue"/>
                <a:cs typeface="Helvetica Neue"/>
              </a:rPr>
              <a:t>The capability was validated; the product model needed to become lighter, configurable and governable.</a:t>
            </a:r>
          </a:p>
        </p:txBody>
      </p:sp>
    </p:spTree>
    <p:extLst>
      <p:ext uri="{BB962C8B-B14F-4D97-AF65-F5344CB8AC3E}">
        <p14:creationId xmlns:p14="http://schemas.microsoft.com/office/powerpoint/2010/main" val="10145426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5">
            <a:extLst xmlns:a="http://schemas.openxmlformats.org/drawingml/2006/main">
              <a:ext uri="{FF2B5EF4-FFF2-40B4-BE49-F238E27FC236}">
                <a16:creationId xmlns:a16="http://schemas.microsoft.com/office/drawing/2014/main" id="{88498ECE-3305-471B-88D9-395B57D6251C}"/>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5">
            <a:extLst xmlns:a="http://schemas.openxmlformats.org/drawingml/2006/main">
              <a:ext uri="{FF2B5EF4-FFF2-40B4-BE49-F238E27FC236}">
                <a16:creationId xmlns:a16="http://schemas.microsoft.com/office/drawing/2014/main" id="{A42441A4-C80A-4682-9F2D-9F5B06D2BF24}"/>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V2 separates experience, analysis and governance</a:t>
            </a:r>
          </a:p>
        </p:txBody>
      </p:sp>
      <p:sp>
        <p:nvSpPr>
          <p:cNvPr id="3" name="accent-5">
            <a:extLst xmlns:a="http://schemas.openxmlformats.org/drawingml/2006/main">
              <a:ext uri="{FF2B5EF4-FFF2-40B4-BE49-F238E27FC236}">
                <a16:creationId xmlns:a16="http://schemas.microsoft.com/office/drawing/2014/main" id="{502C9421-0952-4327-96A2-27F883DEA3DE}"/>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5">
            <a:extLst xmlns:a="http://schemas.openxmlformats.org/drawingml/2006/main">
              <a:ext uri="{FF2B5EF4-FFF2-40B4-BE49-F238E27FC236}">
                <a16:creationId xmlns:a16="http://schemas.microsoft.com/office/drawing/2014/main" id="{61BA0BD9-A3CE-44BF-BB72-E5E07359FF2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c9229f4625f4491"/>
          <a:stretch xmlns:a="http://schemas.openxmlformats.org/drawingml/2006/main"/>
        </p:blipFill>
        <p:spPr>
          <a:xfrm xmlns:a="http://schemas.openxmlformats.org/drawingml/2006/main">
            <a:off x="1962130" y="1657350"/>
            <a:ext cx="7886740" cy="4438650"/>
          </a:xfrm>
          <a:prstGeom xmlns:a="http://schemas.openxmlformats.org/drawingml/2006/main" prst="rect">
            <a:avLst/>
          </a:prstGeom>
        </p:spPr>
      </p:pic>
    </p:spTree>
    <p:extLst>
      <p:ext uri="{BB962C8B-B14F-4D97-AF65-F5344CB8AC3E}">
        <p14:creationId xmlns:p14="http://schemas.microsoft.com/office/powerpoint/2010/main" val="327744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eyebrow-6">
            <a:extLst xmlns:a="http://schemas.openxmlformats.org/drawingml/2006/main">
              <a:ext uri="{FF2B5EF4-FFF2-40B4-BE49-F238E27FC236}">
                <a16:creationId xmlns:a16="http://schemas.microsoft.com/office/drawing/2014/main" id="{B9BE11FC-0F23-45BC-B69B-74ACE4609A4A}"/>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6">
            <a:extLst xmlns:a="http://schemas.openxmlformats.org/drawingml/2006/main">
              <a:ext uri="{FF2B5EF4-FFF2-40B4-BE49-F238E27FC236}">
                <a16:creationId xmlns:a16="http://schemas.microsoft.com/office/drawing/2014/main" id="{37D1AA4B-23A0-4F31-97F9-983A2E4B24A0}"/>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V2 lowers adoption cost while preserving team control</a:t>
            </a:r>
          </a:p>
        </p:txBody>
      </p:sp>
      <p:sp>
        <p:nvSpPr>
          <p:cNvPr id="3" name="accent-6">
            <a:extLst xmlns:a="http://schemas.openxmlformats.org/drawingml/2006/main">
              <a:ext uri="{FF2B5EF4-FFF2-40B4-BE49-F238E27FC236}">
                <a16:creationId xmlns:a16="http://schemas.microsoft.com/office/drawing/2014/main" id="{CF68ED42-E0E0-4B88-B299-FCB12A93A1FD}"/>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6">
            <a:extLst xmlns:a="http://schemas.openxmlformats.org/drawingml/2006/main">
              <a:ext uri="{FF2B5EF4-FFF2-40B4-BE49-F238E27FC236}">
                <a16:creationId xmlns:a16="http://schemas.microsoft.com/office/drawing/2014/main" id="{9CB0BDBF-D08E-4DB8-9099-8CED7DA49B82}"/>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6</a:t>
            </a:r>
          </a:p>
        </p:txBody>
      </p:sp>
      <p:sp>
        <p:nvSpPr>
          <p:cNvPr id="5" name="adopt-bg-0">
            <a:extLst xmlns:a="http://schemas.openxmlformats.org/drawingml/2006/main">
              <a:ext uri="{FF2B5EF4-FFF2-40B4-BE49-F238E27FC236}">
                <a16:creationId xmlns:a16="http://schemas.microsoft.com/office/drawing/2014/main" id="{1293CC4E-9CA1-48C3-9C92-55D34003ED91}"/>
              </a:ext>
            </a:extLst>
          </p:cNvPr>
          <p:cNvSpPr>
            <a:spLocks xmlns:a="http://schemas.openxmlformats.org/drawingml/2006/main" noGrp="1"/>
          </p:cNvSpPr>
          <p:nvPr/>
        </p:nvSpPr>
        <p:spPr>
          <a:xfrm xmlns:a="http://schemas.openxmlformats.org/drawingml/2006/main">
            <a:off x="400050" y="1809750"/>
            <a:ext cx="3429000" cy="17716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adopt-num-0">
            <a:extLst xmlns:a="http://schemas.openxmlformats.org/drawingml/2006/main">
              <a:ext uri="{FF2B5EF4-FFF2-40B4-BE49-F238E27FC236}">
                <a16:creationId xmlns:a16="http://schemas.microsoft.com/office/drawing/2014/main" id="{F5FB79D9-CFB1-406A-A7C0-63EA924871CD}"/>
              </a:ext>
            </a:extLst>
          </p:cNvPr>
          <p:cNvSpPr>
            <a:spLocks xmlns:a="http://schemas.openxmlformats.org/drawingml/2006/main" noGrp="1"/>
          </p:cNvSpPr>
          <p:nvPr/>
        </p:nvSpPr>
        <p:spPr>
          <a:xfrm xmlns:a="http://schemas.openxmlformats.org/drawingml/2006/main">
            <a:off x="628650" y="2019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01</a:t>
            </a:r>
          </a:p>
        </p:txBody>
      </p:sp>
      <p:sp>
        <p:nvSpPr>
          <p:cNvPr id="7" name="adopt-title-0">
            <a:extLst xmlns:a="http://schemas.openxmlformats.org/drawingml/2006/main">
              <a:ext uri="{FF2B5EF4-FFF2-40B4-BE49-F238E27FC236}">
                <a16:creationId xmlns:a16="http://schemas.microsoft.com/office/drawing/2014/main" id="{E96EB255-4970-4A40-AC53-6F95CB90D4E6}"/>
              </a:ext>
            </a:extLst>
          </p:cNvPr>
          <p:cNvSpPr>
            <a:spLocks xmlns:a="http://schemas.openxmlformats.org/drawingml/2006/main" noGrp="1"/>
          </p:cNvSpPr>
          <p:nvPr/>
        </p:nvSpPr>
        <p:spPr>
          <a:xfrm xmlns:a="http://schemas.openxmlformats.org/drawingml/2006/main">
            <a:off x="628650" y="2400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1114"/>
                </a:solidFill>
                <a:latin typeface="Helvetica Neue"/>
                <a:ea typeface="Helvetica Neue"/>
                <a:cs typeface="Helvetica Neue"/>
              </a:defRPr>
            </a:pPr>
            <a:r>
              <a:rPr sz="1800" b="1">
                <a:solidFill>
                  <a:srgbClr val="101114"/>
                </a:solidFill>
                <a:latin typeface="Helvetica Neue"/>
                <a:ea typeface="Helvetica Neue"/>
                <a:cs typeface="Helvetica Neue"/>
              </a:rPr>
              <a:t>Simple deployment</a:t>
            </a:r>
          </a:p>
        </p:txBody>
      </p:sp>
      <p:sp>
        <p:nvSpPr>
          <p:cNvPr id="8" name="adopt-body-0">
            <a:extLst xmlns:a="http://schemas.openxmlformats.org/drawingml/2006/main">
              <a:ext uri="{FF2B5EF4-FFF2-40B4-BE49-F238E27FC236}">
                <a16:creationId xmlns:a16="http://schemas.microsoft.com/office/drawing/2014/main" id="{CE8C3A89-20AD-4D7C-8228-F4F219F83BB9}"/>
              </a:ext>
            </a:extLst>
          </p:cNvPr>
          <p:cNvSpPr>
            <a:spLocks xmlns:a="http://schemas.openxmlformats.org/drawingml/2006/main" noGrp="1"/>
          </p:cNvSpPr>
          <p:nvPr/>
        </p:nvSpPr>
        <p:spPr>
          <a:xfrm xmlns:a="http://schemas.openxmlformats.org/drawingml/2006/main">
            <a:off x="628650" y="28384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Approved CLI package with minimal infrastructure.</a:t>
            </a:r>
          </a:p>
        </p:txBody>
      </p:sp>
      <p:sp>
        <p:nvSpPr>
          <p:cNvPr id="9" name="adopt-bg-1">
            <a:extLst xmlns:a="http://schemas.openxmlformats.org/drawingml/2006/main">
              <a:ext uri="{FF2B5EF4-FFF2-40B4-BE49-F238E27FC236}">
                <a16:creationId xmlns:a16="http://schemas.microsoft.com/office/drawing/2014/main" id="{5C20D01F-A98F-470F-B47C-86A3EB477DC3}"/>
              </a:ext>
            </a:extLst>
          </p:cNvPr>
          <p:cNvSpPr>
            <a:spLocks xmlns:a="http://schemas.openxmlformats.org/drawingml/2006/main" noGrp="1"/>
          </p:cNvSpPr>
          <p:nvPr/>
        </p:nvSpPr>
        <p:spPr>
          <a:xfrm xmlns:a="http://schemas.openxmlformats.org/drawingml/2006/main">
            <a:off x="4229100" y="1809750"/>
            <a:ext cx="3429000" cy="17716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adopt-num-1">
            <a:extLst xmlns:a="http://schemas.openxmlformats.org/drawingml/2006/main">
              <a:ext uri="{FF2B5EF4-FFF2-40B4-BE49-F238E27FC236}">
                <a16:creationId xmlns:a16="http://schemas.microsoft.com/office/drawing/2014/main" id="{A2E78526-5436-402E-9766-D18BC1ACF91A}"/>
              </a:ext>
            </a:extLst>
          </p:cNvPr>
          <p:cNvSpPr>
            <a:spLocks xmlns:a="http://schemas.openxmlformats.org/drawingml/2006/main" noGrp="1"/>
          </p:cNvSpPr>
          <p:nvPr/>
        </p:nvSpPr>
        <p:spPr>
          <a:xfrm xmlns:a="http://schemas.openxmlformats.org/drawingml/2006/main">
            <a:off x="4457700" y="2019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02</a:t>
            </a:r>
          </a:p>
        </p:txBody>
      </p:sp>
      <p:sp>
        <p:nvSpPr>
          <p:cNvPr id="11" name="adopt-title-1">
            <a:extLst xmlns:a="http://schemas.openxmlformats.org/drawingml/2006/main">
              <a:ext uri="{FF2B5EF4-FFF2-40B4-BE49-F238E27FC236}">
                <a16:creationId xmlns:a16="http://schemas.microsoft.com/office/drawing/2014/main" id="{AB551591-5B17-4831-B4E9-2D244CCD0D2F}"/>
              </a:ext>
            </a:extLst>
          </p:cNvPr>
          <p:cNvSpPr>
            <a:spLocks xmlns:a="http://schemas.openxmlformats.org/drawingml/2006/main" noGrp="1"/>
          </p:cNvSpPr>
          <p:nvPr/>
        </p:nvSpPr>
        <p:spPr>
          <a:xfrm xmlns:a="http://schemas.openxmlformats.org/drawingml/2006/main">
            <a:off x="4457700" y="2400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1114"/>
                </a:solidFill>
                <a:latin typeface="Helvetica Neue"/>
                <a:ea typeface="Helvetica Neue"/>
                <a:cs typeface="Helvetica Neue"/>
              </a:defRPr>
            </a:pPr>
            <a:r>
              <a:rPr sz="1800" b="1">
                <a:solidFill>
                  <a:srgbClr val="101114"/>
                </a:solidFill>
                <a:latin typeface="Helvetica Neue"/>
                <a:ea typeface="Helvetica Neue"/>
                <a:cs typeface="Helvetica Neue"/>
              </a:rPr>
              <a:t>Configuration first</a:t>
            </a:r>
          </a:p>
        </p:txBody>
      </p:sp>
      <p:sp>
        <p:nvSpPr>
          <p:cNvPr id="12" name="adopt-body-1">
            <a:extLst xmlns:a="http://schemas.openxmlformats.org/drawingml/2006/main">
              <a:ext uri="{FF2B5EF4-FFF2-40B4-BE49-F238E27FC236}">
                <a16:creationId xmlns:a16="http://schemas.microsoft.com/office/drawing/2014/main" id="{0CA7C81C-2AD9-4342-A026-70767DA4C550}"/>
              </a:ext>
            </a:extLst>
          </p:cNvPr>
          <p:cNvSpPr>
            <a:spLocks xmlns:a="http://schemas.openxmlformats.org/drawingml/2006/main" noGrp="1"/>
          </p:cNvSpPr>
          <p:nvPr/>
        </p:nvSpPr>
        <p:spPr>
          <a:xfrm xmlns:a="http://schemas.openxmlformats.org/drawingml/2006/main">
            <a:off x="4457700" y="28384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Repositories, scanners, thresholds and outputs stay external.</a:t>
            </a:r>
          </a:p>
        </p:txBody>
      </p:sp>
      <p:sp>
        <p:nvSpPr>
          <p:cNvPr id="13" name="adopt-bg-2">
            <a:extLst xmlns:a="http://schemas.openxmlformats.org/drawingml/2006/main">
              <a:ext uri="{FF2B5EF4-FFF2-40B4-BE49-F238E27FC236}">
                <a16:creationId xmlns:a16="http://schemas.microsoft.com/office/drawing/2014/main" id="{E0F9C148-56DC-4CF5-9B6D-7755D3453823}"/>
              </a:ext>
            </a:extLst>
          </p:cNvPr>
          <p:cNvSpPr>
            <a:spLocks xmlns:a="http://schemas.openxmlformats.org/drawingml/2006/main" noGrp="1"/>
          </p:cNvSpPr>
          <p:nvPr/>
        </p:nvSpPr>
        <p:spPr>
          <a:xfrm xmlns:a="http://schemas.openxmlformats.org/drawingml/2006/main">
            <a:off x="8058150" y="1809750"/>
            <a:ext cx="3429000" cy="17716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4" name="adopt-num-2">
            <a:extLst xmlns:a="http://schemas.openxmlformats.org/drawingml/2006/main">
              <a:ext uri="{FF2B5EF4-FFF2-40B4-BE49-F238E27FC236}">
                <a16:creationId xmlns:a16="http://schemas.microsoft.com/office/drawing/2014/main" id="{7A4A020E-348E-4941-8655-8B2A47A4D404}"/>
              </a:ext>
            </a:extLst>
          </p:cNvPr>
          <p:cNvSpPr>
            <a:spLocks xmlns:a="http://schemas.openxmlformats.org/drawingml/2006/main" noGrp="1"/>
          </p:cNvSpPr>
          <p:nvPr/>
        </p:nvSpPr>
        <p:spPr>
          <a:xfrm xmlns:a="http://schemas.openxmlformats.org/drawingml/2006/main">
            <a:off x="8286750" y="2019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03</a:t>
            </a:r>
          </a:p>
        </p:txBody>
      </p:sp>
      <p:sp>
        <p:nvSpPr>
          <p:cNvPr id="15" name="adopt-title-2">
            <a:extLst xmlns:a="http://schemas.openxmlformats.org/drawingml/2006/main">
              <a:ext uri="{FF2B5EF4-FFF2-40B4-BE49-F238E27FC236}">
                <a16:creationId xmlns:a16="http://schemas.microsoft.com/office/drawing/2014/main" id="{60A92904-C0F3-4F4C-A01B-2429FF986845}"/>
              </a:ext>
            </a:extLst>
          </p:cNvPr>
          <p:cNvSpPr>
            <a:spLocks xmlns:a="http://schemas.openxmlformats.org/drawingml/2006/main" noGrp="1"/>
          </p:cNvSpPr>
          <p:nvPr/>
        </p:nvSpPr>
        <p:spPr>
          <a:xfrm xmlns:a="http://schemas.openxmlformats.org/drawingml/2006/main">
            <a:off x="8286750" y="2400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1114"/>
                </a:solidFill>
                <a:latin typeface="Helvetica Neue"/>
                <a:ea typeface="Helvetica Neue"/>
                <a:cs typeface="Helvetica Neue"/>
              </a:defRPr>
            </a:pPr>
            <a:r>
              <a:rPr sz="1800" b="1">
                <a:solidFill>
                  <a:srgbClr val="101114"/>
                </a:solidFill>
                <a:latin typeface="Helvetica Neue"/>
                <a:ea typeface="Helvetica Neue"/>
                <a:cs typeface="Helvetica Neue"/>
              </a:rPr>
              <a:t>Targeted rules</a:t>
            </a:r>
          </a:p>
        </p:txBody>
      </p:sp>
      <p:sp>
        <p:nvSpPr>
          <p:cNvPr id="16" name="adopt-body-2">
            <a:extLst xmlns:a="http://schemas.openxmlformats.org/drawingml/2006/main">
              <a:ext uri="{FF2B5EF4-FFF2-40B4-BE49-F238E27FC236}">
                <a16:creationId xmlns:a16="http://schemas.microsoft.com/office/drawing/2014/main" id="{6C180750-C452-47D3-A315-9D8A5AD67AE3}"/>
              </a:ext>
            </a:extLst>
          </p:cNvPr>
          <p:cNvSpPr>
            <a:spLocks xmlns:a="http://schemas.openxmlformats.org/drawingml/2006/main" noGrp="1"/>
          </p:cNvSpPr>
          <p:nvPr/>
        </p:nvSpPr>
        <p:spPr>
          <a:xfrm xmlns:a="http://schemas.openxmlformats.org/drawingml/2006/main">
            <a:off x="8286750" y="28384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Vary standards by repository, language, file type and risk.</a:t>
            </a:r>
          </a:p>
        </p:txBody>
      </p:sp>
      <p:sp>
        <p:nvSpPr>
          <p:cNvPr id="17" name="adopt-bg-3">
            <a:extLst xmlns:a="http://schemas.openxmlformats.org/drawingml/2006/main">
              <a:ext uri="{FF2B5EF4-FFF2-40B4-BE49-F238E27FC236}">
                <a16:creationId xmlns:a16="http://schemas.microsoft.com/office/drawing/2014/main" id="{9C58810E-112A-41FA-8F4C-E3DDFF21AE8A}"/>
              </a:ext>
            </a:extLst>
          </p:cNvPr>
          <p:cNvSpPr>
            <a:spLocks xmlns:a="http://schemas.openxmlformats.org/drawingml/2006/main" noGrp="1"/>
          </p:cNvSpPr>
          <p:nvPr/>
        </p:nvSpPr>
        <p:spPr>
          <a:xfrm xmlns:a="http://schemas.openxmlformats.org/drawingml/2006/main">
            <a:off x="400050" y="3905250"/>
            <a:ext cx="3429000" cy="1771650"/>
          </a:xfrm>
          <a:prstGeom xmlns:a="http://schemas.openxmlformats.org/drawingml/2006/main" prst="rect">
            <a:avLst/>
          </a:prstGeom>
          <a:solidFill xmlns:a="http://schemas.openxmlformats.org/drawingml/2006/main">
            <a:srgbClr val="E7F5FC"/>
          </a:solidFill>
          <a:ln xmlns:a="http://schemas.openxmlformats.org/drawingml/2006/main" w="0">
            <a:noFill/>
            <a:prstDash val="solid"/>
          </a:ln>
        </p:spPr>
      </p:sp>
      <p:sp>
        <p:nvSpPr>
          <p:cNvPr id="18" name="adopt-num-3">
            <a:extLst xmlns:a="http://schemas.openxmlformats.org/drawingml/2006/main">
              <a:ext uri="{FF2B5EF4-FFF2-40B4-BE49-F238E27FC236}">
                <a16:creationId xmlns:a16="http://schemas.microsoft.com/office/drawing/2014/main" id="{5B804E65-33BD-4E72-AA07-913C906D1BB5}"/>
              </a:ext>
            </a:extLst>
          </p:cNvPr>
          <p:cNvSpPr>
            <a:spLocks xmlns:a="http://schemas.openxmlformats.org/drawingml/2006/main" noGrp="1"/>
          </p:cNvSpPr>
          <p:nvPr/>
        </p:nvSpPr>
        <p:spPr>
          <a:xfrm xmlns:a="http://schemas.openxmlformats.org/drawingml/2006/main">
            <a:off x="628650" y="41148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04</a:t>
            </a:r>
          </a:p>
        </p:txBody>
      </p:sp>
      <p:sp>
        <p:nvSpPr>
          <p:cNvPr id="19" name="adopt-title-3">
            <a:extLst xmlns:a="http://schemas.openxmlformats.org/drawingml/2006/main">
              <a:ext uri="{FF2B5EF4-FFF2-40B4-BE49-F238E27FC236}">
                <a16:creationId xmlns:a16="http://schemas.microsoft.com/office/drawing/2014/main" id="{EB329946-693E-4D52-ACC2-B2A3663CD904}"/>
              </a:ext>
            </a:extLst>
          </p:cNvPr>
          <p:cNvSpPr>
            <a:spLocks xmlns:a="http://schemas.openxmlformats.org/drawingml/2006/main" noGrp="1"/>
          </p:cNvSpPr>
          <p:nvPr/>
        </p:nvSpPr>
        <p:spPr>
          <a:xfrm xmlns:a="http://schemas.openxmlformats.org/drawingml/2006/main">
            <a:off x="628650" y="44958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1114"/>
                </a:solidFill>
                <a:latin typeface="Helvetica Neue"/>
                <a:ea typeface="Helvetica Neue"/>
                <a:cs typeface="Helvetica Neue"/>
              </a:defRPr>
            </a:pPr>
            <a:r>
              <a:rPr sz="1800" b="1">
                <a:solidFill>
                  <a:srgbClr val="101114"/>
                </a:solidFill>
                <a:latin typeface="Helvetica Neue"/>
                <a:ea typeface="Helvetica Neue"/>
                <a:cs typeface="Helvetica Neue"/>
              </a:rPr>
              <a:t>Structured context</a:t>
            </a:r>
          </a:p>
        </p:txBody>
      </p:sp>
      <p:sp>
        <p:nvSpPr>
          <p:cNvPr id="20" name="adopt-body-3">
            <a:extLst xmlns:a="http://schemas.openxmlformats.org/drawingml/2006/main">
              <a:ext uri="{FF2B5EF4-FFF2-40B4-BE49-F238E27FC236}">
                <a16:creationId xmlns:a16="http://schemas.microsoft.com/office/drawing/2014/main" id="{E468D1A2-E0F7-4373-A142-2C90AEA694D4}"/>
              </a:ext>
            </a:extLst>
          </p:cNvPr>
          <p:cNvSpPr>
            <a:spLocks xmlns:a="http://schemas.openxmlformats.org/drawingml/2006/main" noGrp="1"/>
          </p:cNvSpPr>
          <p:nvPr/>
        </p:nvSpPr>
        <p:spPr>
          <a:xfrm xmlns:a="http://schemas.openxmlformats.org/drawingml/2006/main">
            <a:off x="628650" y="49339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Inject architecture, dependencies, business flows and work items.</a:t>
            </a:r>
          </a:p>
        </p:txBody>
      </p:sp>
      <p:sp>
        <p:nvSpPr>
          <p:cNvPr id="21" name="adopt-bg-4">
            <a:extLst xmlns:a="http://schemas.openxmlformats.org/drawingml/2006/main">
              <a:ext uri="{FF2B5EF4-FFF2-40B4-BE49-F238E27FC236}">
                <a16:creationId xmlns:a16="http://schemas.microsoft.com/office/drawing/2014/main" id="{5649AD37-A460-4344-9A87-93F44F91E675}"/>
              </a:ext>
            </a:extLst>
          </p:cNvPr>
          <p:cNvSpPr>
            <a:spLocks xmlns:a="http://schemas.openxmlformats.org/drawingml/2006/main" noGrp="1"/>
          </p:cNvSpPr>
          <p:nvPr/>
        </p:nvSpPr>
        <p:spPr>
          <a:xfrm xmlns:a="http://schemas.openxmlformats.org/drawingml/2006/main">
            <a:off x="4229100" y="3905250"/>
            <a:ext cx="3429000" cy="1771650"/>
          </a:xfrm>
          <a:prstGeom xmlns:a="http://schemas.openxmlformats.org/drawingml/2006/main" prst="rect">
            <a:avLst/>
          </a:prstGeom>
          <a:solidFill xmlns:a="http://schemas.openxmlformats.org/drawingml/2006/main">
            <a:srgbClr val="E7F5FC"/>
          </a:solidFill>
          <a:ln xmlns:a="http://schemas.openxmlformats.org/drawingml/2006/main" w="0">
            <a:noFill/>
            <a:prstDash val="solid"/>
          </a:ln>
        </p:spPr>
      </p:sp>
      <p:sp>
        <p:nvSpPr>
          <p:cNvPr id="22" name="adopt-num-4">
            <a:extLst xmlns:a="http://schemas.openxmlformats.org/drawingml/2006/main">
              <a:ext uri="{FF2B5EF4-FFF2-40B4-BE49-F238E27FC236}">
                <a16:creationId xmlns:a16="http://schemas.microsoft.com/office/drawing/2014/main" id="{06000781-FF16-4272-AF72-C7BBE57F462A}"/>
              </a:ext>
            </a:extLst>
          </p:cNvPr>
          <p:cNvSpPr>
            <a:spLocks xmlns:a="http://schemas.openxmlformats.org/drawingml/2006/main" noGrp="1"/>
          </p:cNvSpPr>
          <p:nvPr/>
        </p:nvSpPr>
        <p:spPr>
          <a:xfrm xmlns:a="http://schemas.openxmlformats.org/drawingml/2006/main">
            <a:off x="4457700" y="41148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05</a:t>
            </a:r>
          </a:p>
        </p:txBody>
      </p:sp>
      <p:sp>
        <p:nvSpPr>
          <p:cNvPr id="23" name="adopt-title-4">
            <a:extLst xmlns:a="http://schemas.openxmlformats.org/drawingml/2006/main">
              <a:ext uri="{FF2B5EF4-FFF2-40B4-BE49-F238E27FC236}">
                <a16:creationId xmlns:a16="http://schemas.microsoft.com/office/drawing/2014/main" id="{3BDBD9D3-88C7-406B-92EE-0DA02BDAB469}"/>
              </a:ext>
            </a:extLst>
          </p:cNvPr>
          <p:cNvSpPr>
            <a:spLocks xmlns:a="http://schemas.openxmlformats.org/drawingml/2006/main" noGrp="1"/>
          </p:cNvSpPr>
          <p:nvPr/>
        </p:nvSpPr>
        <p:spPr>
          <a:xfrm xmlns:a="http://schemas.openxmlformats.org/drawingml/2006/main">
            <a:off x="4457700" y="44958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1114"/>
                </a:solidFill>
                <a:latin typeface="Helvetica Neue"/>
                <a:ea typeface="Helvetica Neue"/>
                <a:cs typeface="Helvetica Neue"/>
              </a:defRPr>
            </a:pPr>
            <a:r>
              <a:rPr sz="1800" b="1">
                <a:solidFill>
                  <a:srgbClr val="101114"/>
                </a:solidFill>
                <a:latin typeface="Helvetica Neue"/>
                <a:ea typeface="Helvetica Neue"/>
                <a:cs typeface="Helvetica Neue"/>
              </a:rPr>
              <a:t>Local visibility</a:t>
            </a:r>
          </a:p>
        </p:txBody>
      </p:sp>
      <p:sp>
        <p:nvSpPr>
          <p:cNvPr id="24" name="adopt-body-4">
            <a:extLst xmlns:a="http://schemas.openxmlformats.org/drawingml/2006/main">
              <a:ext uri="{FF2B5EF4-FFF2-40B4-BE49-F238E27FC236}">
                <a16:creationId xmlns:a16="http://schemas.microsoft.com/office/drawing/2014/main" id="{05E7C1E4-5C9E-449C-B0B5-F426903A4982}"/>
              </a:ext>
            </a:extLst>
          </p:cNvPr>
          <p:cNvSpPr>
            <a:spLocks xmlns:a="http://schemas.openxmlformats.org/drawingml/2006/main" noGrp="1"/>
          </p:cNvSpPr>
          <p:nvPr/>
        </p:nvSpPr>
        <p:spPr>
          <a:xfrm xmlns:a="http://schemas.openxmlformats.org/drawingml/2006/main">
            <a:off x="4457700" y="49339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SQLite and a lightweight dashboard retain history and audit.</a:t>
            </a:r>
          </a:p>
        </p:txBody>
      </p:sp>
      <p:sp>
        <p:nvSpPr>
          <p:cNvPr id="25" name="adopt-bg-5">
            <a:extLst xmlns:a="http://schemas.openxmlformats.org/drawingml/2006/main">
              <a:ext uri="{FF2B5EF4-FFF2-40B4-BE49-F238E27FC236}">
                <a16:creationId xmlns:a16="http://schemas.microsoft.com/office/drawing/2014/main" id="{082200F9-243C-4CE5-8569-5EAE843E62CF}"/>
              </a:ext>
            </a:extLst>
          </p:cNvPr>
          <p:cNvSpPr>
            <a:spLocks xmlns:a="http://schemas.openxmlformats.org/drawingml/2006/main" noGrp="1"/>
          </p:cNvSpPr>
          <p:nvPr/>
        </p:nvSpPr>
        <p:spPr>
          <a:xfrm xmlns:a="http://schemas.openxmlformats.org/drawingml/2006/main">
            <a:off x="8058150" y="3905250"/>
            <a:ext cx="3429000" cy="1771650"/>
          </a:xfrm>
          <a:prstGeom xmlns:a="http://schemas.openxmlformats.org/drawingml/2006/main" prst="rect">
            <a:avLst/>
          </a:prstGeom>
          <a:solidFill xmlns:a="http://schemas.openxmlformats.org/drawingml/2006/main">
            <a:srgbClr val="E7F5FC"/>
          </a:solidFill>
          <a:ln xmlns:a="http://schemas.openxmlformats.org/drawingml/2006/main" w="0">
            <a:noFill/>
            <a:prstDash val="solid"/>
          </a:ln>
        </p:spPr>
      </p:sp>
      <p:sp>
        <p:nvSpPr>
          <p:cNvPr id="26" name="adopt-num-5">
            <a:extLst xmlns:a="http://schemas.openxmlformats.org/drawingml/2006/main">
              <a:ext uri="{FF2B5EF4-FFF2-40B4-BE49-F238E27FC236}">
                <a16:creationId xmlns:a16="http://schemas.microsoft.com/office/drawing/2014/main" id="{D09A7F47-19FC-486E-AF38-C0CADA6D930C}"/>
              </a:ext>
            </a:extLst>
          </p:cNvPr>
          <p:cNvSpPr>
            <a:spLocks xmlns:a="http://schemas.openxmlformats.org/drawingml/2006/main" noGrp="1"/>
          </p:cNvSpPr>
          <p:nvPr/>
        </p:nvSpPr>
        <p:spPr>
          <a:xfrm xmlns:a="http://schemas.openxmlformats.org/drawingml/2006/main">
            <a:off x="8286750" y="41148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06</a:t>
            </a:r>
          </a:p>
        </p:txBody>
      </p:sp>
      <p:sp>
        <p:nvSpPr>
          <p:cNvPr id="27" name="adopt-title-5">
            <a:extLst xmlns:a="http://schemas.openxmlformats.org/drawingml/2006/main">
              <a:ext uri="{FF2B5EF4-FFF2-40B4-BE49-F238E27FC236}">
                <a16:creationId xmlns:a16="http://schemas.microsoft.com/office/drawing/2014/main" id="{E72FF057-C8B7-4FCD-A8C3-85EC8DA84EF3}"/>
              </a:ext>
            </a:extLst>
          </p:cNvPr>
          <p:cNvSpPr>
            <a:spLocks xmlns:a="http://schemas.openxmlformats.org/drawingml/2006/main" noGrp="1"/>
          </p:cNvSpPr>
          <p:nvPr/>
        </p:nvSpPr>
        <p:spPr>
          <a:xfrm xmlns:a="http://schemas.openxmlformats.org/drawingml/2006/main">
            <a:off x="8286750" y="44958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1114"/>
                </a:solidFill>
                <a:latin typeface="Helvetica Neue"/>
                <a:ea typeface="Helvetica Neue"/>
                <a:cs typeface="Helvetica Neue"/>
              </a:defRPr>
            </a:pPr>
            <a:r>
              <a:rPr sz="1800" b="1">
                <a:solidFill>
                  <a:srgbClr val="101114"/>
                </a:solidFill>
                <a:latin typeface="Helvetica Neue"/>
                <a:ea typeface="Helvetica Neue"/>
                <a:cs typeface="Helvetica Neue"/>
              </a:rPr>
              <a:t>Reusable pattern</a:t>
            </a:r>
          </a:p>
        </p:txBody>
      </p:sp>
      <p:sp>
        <p:nvSpPr>
          <p:cNvPr id="28" name="adopt-body-5">
            <a:extLst xmlns:a="http://schemas.openxmlformats.org/drawingml/2006/main">
              <a:ext uri="{FF2B5EF4-FFF2-40B4-BE49-F238E27FC236}">
                <a16:creationId xmlns:a16="http://schemas.microsoft.com/office/drawing/2014/main" id="{7130D09C-B88B-432C-9279-EBFF5D7A8E7A}"/>
              </a:ext>
            </a:extLst>
          </p:cNvPr>
          <p:cNvSpPr>
            <a:spLocks xmlns:a="http://schemas.openxmlformats.org/drawingml/2006/main" noGrp="1"/>
          </p:cNvSpPr>
          <p:nvPr/>
        </p:nvSpPr>
        <p:spPr>
          <a:xfrm xmlns:a="http://schemas.openxmlformats.org/drawingml/2006/main">
            <a:off x="8286750" y="49339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Teams reuse the workflow with their own context and thresholds.</a:t>
            </a:r>
          </a:p>
        </p:txBody>
      </p:sp>
    </p:spTree>
    <p:extLst>
      <p:ext uri="{BB962C8B-B14F-4D97-AF65-F5344CB8AC3E}">
        <p14:creationId xmlns:p14="http://schemas.microsoft.com/office/powerpoint/2010/main" val="11487815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7">
            <a:extLst xmlns:a="http://schemas.openxmlformats.org/drawingml/2006/main">
              <a:ext uri="{FF2B5EF4-FFF2-40B4-BE49-F238E27FC236}">
                <a16:creationId xmlns:a16="http://schemas.microsoft.com/office/drawing/2014/main" id="{392A8000-FF73-4211-858D-56DE900C4C57}"/>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7">
            <a:extLst xmlns:a="http://schemas.openxmlformats.org/drawingml/2006/main">
              <a:ext uri="{FF2B5EF4-FFF2-40B4-BE49-F238E27FC236}">
                <a16:creationId xmlns:a16="http://schemas.microsoft.com/office/drawing/2014/main" id="{86C5AC86-0FCE-4CA4-83DA-3B57AF1140AD}"/>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Trust requires stable findings and auditable controls</a:t>
            </a:r>
          </a:p>
        </p:txBody>
      </p:sp>
      <p:sp>
        <p:nvSpPr>
          <p:cNvPr id="3" name="accent-7">
            <a:extLst xmlns:a="http://schemas.openxmlformats.org/drawingml/2006/main">
              <a:ext uri="{FF2B5EF4-FFF2-40B4-BE49-F238E27FC236}">
                <a16:creationId xmlns:a16="http://schemas.microsoft.com/office/drawing/2014/main" id="{3D45B075-DAF6-4254-A486-8F15CBBC0D4C}"/>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7">
            <a:extLst xmlns:a="http://schemas.openxmlformats.org/drawingml/2006/main">
              <a:ext uri="{FF2B5EF4-FFF2-40B4-BE49-F238E27FC236}">
                <a16:creationId xmlns:a16="http://schemas.microsoft.com/office/drawing/2014/main" id="{D5C436AA-FB2E-4F57-BCAC-AF983148AAE5}"/>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7</a:t>
            </a:r>
          </a:p>
        </p:txBody>
      </p:sp>
      <p:sp>
        <p:nvSpPr>
          <p:cNvPr id="5" name="decision-bg">
            <a:extLst xmlns:a="http://schemas.openxmlformats.org/drawingml/2006/main">
              <a:ext uri="{FF2B5EF4-FFF2-40B4-BE49-F238E27FC236}">
                <a16:creationId xmlns:a16="http://schemas.microsoft.com/office/drawing/2014/main" id="{2027CF3E-9D88-4128-BA8F-4E4F94838E7C}"/>
              </a:ext>
            </a:extLst>
          </p:cNvPr>
          <p:cNvSpPr>
            <a:spLocks xmlns:a="http://schemas.openxmlformats.org/drawingml/2006/main" noGrp="1"/>
          </p:cNvSpPr>
          <p:nvPr/>
        </p:nvSpPr>
        <p:spPr>
          <a:xfrm xmlns:a="http://schemas.openxmlformats.org/drawingml/2006/main">
            <a:off x="400050" y="1809750"/>
            <a:ext cx="4572000" cy="36385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6" name="decision-label">
            <a:extLst xmlns:a="http://schemas.openxmlformats.org/drawingml/2006/main">
              <a:ext uri="{FF2B5EF4-FFF2-40B4-BE49-F238E27FC236}">
                <a16:creationId xmlns:a16="http://schemas.microsoft.com/office/drawing/2014/main" id="{84588322-60A6-4ACF-8427-E27E187666C8}"/>
              </a:ext>
            </a:extLst>
          </p:cNvPr>
          <p:cNvSpPr>
            <a:spLocks xmlns:a="http://schemas.openxmlformats.org/drawingml/2006/main" noGrp="1"/>
          </p:cNvSpPr>
          <p:nvPr/>
        </p:nvSpPr>
        <p:spPr>
          <a:xfrm xmlns:a="http://schemas.openxmlformats.org/drawingml/2006/main">
            <a:off x="685800" y="20955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REVIEW DECISION MODEL</a:t>
            </a:r>
          </a:p>
        </p:txBody>
      </p:sp>
      <p:sp>
        <p:nvSpPr>
          <p:cNvPr id="7" name="blocked">
            <a:extLst xmlns:a="http://schemas.openxmlformats.org/drawingml/2006/main">
              <a:ext uri="{FF2B5EF4-FFF2-40B4-BE49-F238E27FC236}">
                <a16:creationId xmlns:a16="http://schemas.microsoft.com/office/drawing/2014/main" id="{D2C81FCB-AFCE-412F-B7AC-9CD66BCBF7BC}"/>
              </a:ext>
            </a:extLst>
          </p:cNvPr>
          <p:cNvSpPr>
            <a:spLocks xmlns:a="http://schemas.openxmlformats.org/drawingml/2006/main" noGrp="1"/>
          </p:cNvSpPr>
          <p:nvPr/>
        </p:nvSpPr>
        <p:spPr>
          <a:xfrm xmlns:a="http://schemas.openxmlformats.org/drawingml/2006/main">
            <a:off x="685800" y="2686050"/>
            <a:ext cx="3524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Blocking finding</a:t>
            </a:r>
          </a:p>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 BLOCKED</a:t>
            </a:r>
          </a:p>
        </p:txBody>
      </p:sp>
      <p:sp>
        <p:nvSpPr>
          <p:cNvPr id="8" name="decision-rule">
            <a:extLst xmlns:a="http://schemas.openxmlformats.org/drawingml/2006/main">
              <a:ext uri="{FF2B5EF4-FFF2-40B4-BE49-F238E27FC236}">
                <a16:creationId xmlns:a16="http://schemas.microsoft.com/office/drawing/2014/main" id="{C823D464-3316-426E-A133-AA2134AE5834}"/>
              </a:ext>
            </a:extLst>
          </p:cNvPr>
          <p:cNvSpPr>
            <a:spLocks xmlns:a="http://schemas.openxmlformats.org/drawingml/2006/main" noGrp="1"/>
          </p:cNvSpPr>
          <p:nvPr/>
        </p:nvSpPr>
        <p:spPr>
          <a:xfrm xmlns:a="http://schemas.openxmlformats.org/drawingml/2006/main">
            <a:off x="685800" y="3781425"/>
            <a:ext cx="3524250" cy="9525"/>
          </a:xfrm>
          <a:prstGeom xmlns:a="http://schemas.openxmlformats.org/drawingml/2006/main" prst="rect">
            <a:avLst/>
          </a:prstGeom>
          <a:solidFill xmlns:a="http://schemas.openxmlformats.org/drawingml/2006/main">
            <a:srgbClr val="59606A"/>
          </a:solidFill>
          <a:ln xmlns:a="http://schemas.openxmlformats.org/drawingml/2006/main" w="0">
            <a:noFill/>
            <a:prstDash val="solid"/>
          </a:ln>
        </p:spPr>
      </p:sp>
      <p:sp>
        <p:nvSpPr>
          <p:cNvPr id="9" name="allowed">
            <a:extLst xmlns:a="http://schemas.openxmlformats.org/drawingml/2006/main">
              <a:ext uri="{FF2B5EF4-FFF2-40B4-BE49-F238E27FC236}">
                <a16:creationId xmlns:a16="http://schemas.microsoft.com/office/drawing/2014/main" id="{82569653-D001-4C48-8EF8-F1878D2C82D3}"/>
              </a:ext>
            </a:extLst>
          </p:cNvPr>
          <p:cNvSpPr>
            <a:spLocks xmlns:a="http://schemas.openxmlformats.org/drawingml/2006/main" noGrp="1"/>
          </p:cNvSpPr>
          <p:nvPr/>
        </p:nvSpPr>
        <p:spPr>
          <a:xfrm xmlns:a="http://schemas.openxmlformats.org/drawingml/2006/main">
            <a:off x="685800" y="4095750"/>
            <a:ext cx="3524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No blocking finding</a:t>
            </a:r>
          </a:p>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 ALLOWED</a:t>
            </a:r>
          </a:p>
        </p:txBody>
      </p:sp>
      <p:sp>
        <p:nvSpPr>
          <p:cNvPr id="10" name="trust-title-0">
            <a:extLst xmlns:a="http://schemas.openxmlformats.org/drawingml/2006/main">
              <a:ext uri="{FF2B5EF4-FFF2-40B4-BE49-F238E27FC236}">
                <a16:creationId xmlns:a16="http://schemas.microsoft.com/office/drawing/2014/main" id="{6A3EF3BD-C205-4C4E-A69D-E9285E681304}"/>
              </a:ext>
            </a:extLst>
          </p:cNvPr>
          <p:cNvSpPr>
            <a:spLocks xmlns:a="http://schemas.openxmlformats.org/drawingml/2006/main" noGrp="1"/>
          </p:cNvSpPr>
          <p:nvPr/>
        </p:nvSpPr>
        <p:spPr>
          <a:xfrm xmlns:a="http://schemas.openxmlformats.org/drawingml/2006/main">
            <a:off x="5467350" y="18288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1114"/>
                </a:solidFill>
                <a:latin typeface="Helvetica Neue"/>
                <a:ea typeface="Helvetica Neue"/>
                <a:cs typeface="Helvetica Neue"/>
              </a:defRPr>
            </a:pPr>
            <a:r>
              <a:rPr sz="1725" b="1">
                <a:solidFill>
                  <a:srgbClr val="101114"/>
                </a:solidFill>
                <a:latin typeface="Helvetica Neue"/>
                <a:ea typeface="Helvetica Neue"/>
                <a:cs typeface="Helvetica Neue"/>
              </a:rPr>
              <a:t>Incremental review</a:t>
            </a:r>
          </a:p>
        </p:txBody>
      </p:sp>
      <p:sp>
        <p:nvSpPr>
          <p:cNvPr id="11" name="trust-body-0">
            <a:extLst xmlns:a="http://schemas.openxmlformats.org/drawingml/2006/main">
              <a:ext uri="{FF2B5EF4-FFF2-40B4-BE49-F238E27FC236}">
                <a16:creationId xmlns:a16="http://schemas.microsoft.com/office/drawing/2014/main" id="{8E605552-A707-4BDD-AF37-BADCD20A2101}"/>
              </a:ext>
            </a:extLst>
          </p:cNvPr>
          <p:cNvSpPr>
            <a:spLocks xmlns:a="http://schemas.openxmlformats.org/drawingml/2006/main" noGrp="1"/>
          </p:cNvSpPr>
          <p:nvPr/>
        </p:nvSpPr>
        <p:spPr>
          <a:xfrm xmlns:a="http://schemas.openxmlformats.org/drawingml/2006/main">
            <a:off x="5467350" y="22288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rPr sz="1350" b="0">
                <a:solidFill>
                  <a:srgbClr val="5F6670"/>
                </a:solidFill>
                <a:latin typeface="Helvetica Neue"/>
                <a:ea typeface="Helvetica Neue"/>
                <a:cs typeface="Helvetica Neue"/>
              </a:rPr>
              <a:t>Refresh inline issue status and the current PR report after each commit.</a:t>
            </a:r>
          </a:p>
        </p:txBody>
      </p:sp>
      <p:sp>
        <p:nvSpPr>
          <p:cNvPr id="12" name="trust-rule-0">
            <a:extLst xmlns:a="http://schemas.openxmlformats.org/drawingml/2006/main">
              <a:ext uri="{FF2B5EF4-FFF2-40B4-BE49-F238E27FC236}">
                <a16:creationId xmlns:a16="http://schemas.microsoft.com/office/drawing/2014/main" id="{38B4B374-9DBA-4CDA-AB08-E1A9CE1132C3}"/>
              </a:ext>
            </a:extLst>
          </p:cNvPr>
          <p:cNvSpPr>
            <a:spLocks xmlns:a="http://schemas.openxmlformats.org/drawingml/2006/main" noGrp="1"/>
          </p:cNvSpPr>
          <p:nvPr/>
        </p:nvSpPr>
        <p:spPr>
          <a:xfrm xmlns:a="http://schemas.openxmlformats.org/drawingml/2006/main">
            <a:off x="5467350" y="2895600"/>
            <a:ext cx="55435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trust-title-1">
            <a:extLst xmlns:a="http://schemas.openxmlformats.org/drawingml/2006/main">
              <a:ext uri="{FF2B5EF4-FFF2-40B4-BE49-F238E27FC236}">
                <a16:creationId xmlns:a16="http://schemas.microsoft.com/office/drawing/2014/main" id="{0344134C-0F64-4B6B-A789-87D1B012FE6F}"/>
              </a:ext>
            </a:extLst>
          </p:cNvPr>
          <p:cNvSpPr>
            <a:spLocks xmlns:a="http://schemas.openxmlformats.org/drawingml/2006/main" noGrp="1"/>
          </p:cNvSpPr>
          <p:nvPr/>
        </p:nvSpPr>
        <p:spPr>
          <a:xfrm xmlns:a="http://schemas.openxmlformats.org/drawingml/2006/main">
            <a:off x="5467350" y="30861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1114"/>
                </a:solidFill>
                <a:latin typeface="Helvetica Neue"/>
                <a:ea typeface="Helvetica Neue"/>
                <a:cs typeface="Helvetica Neue"/>
              </a:defRPr>
            </a:pPr>
            <a:r>
              <a:rPr sz="1725" b="1">
                <a:solidFill>
                  <a:srgbClr val="101114"/>
                </a:solidFill>
                <a:latin typeface="Helvetica Neue"/>
                <a:ea typeface="Helvetica Neue"/>
                <a:cs typeface="Helvetica Neue"/>
              </a:rPr>
              <a:t>Evidence-driven improvement</a:t>
            </a:r>
          </a:p>
        </p:txBody>
      </p:sp>
      <p:sp>
        <p:nvSpPr>
          <p:cNvPr id="14" name="trust-body-1">
            <a:extLst xmlns:a="http://schemas.openxmlformats.org/drawingml/2006/main">
              <a:ext uri="{FF2B5EF4-FFF2-40B4-BE49-F238E27FC236}">
                <a16:creationId xmlns:a16="http://schemas.microsoft.com/office/drawing/2014/main" id="{F23645E9-E9FF-4AF1-81AF-4250DF718188}"/>
              </a:ext>
            </a:extLst>
          </p:cNvPr>
          <p:cNvSpPr>
            <a:spLocks xmlns:a="http://schemas.openxmlformats.org/drawingml/2006/main" noGrp="1"/>
          </p:cNvSpPr>
          <p:nvPr/>
        </p:nvSpPr>
        <p:spPr>
          <a:xfrm xmlns:a="http://schemas.openxmlformats.org/drawingml/2006/main">
            <a:off x="5467350" y="34861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rPr sz="1350" b="0">
                <a:solidFill>
                  <a:srgbClr val="5F6670"/>
                </a:solidFill>
                <a:latin typeface="Helvetica Neue"/>
                <a:ea typeface="Helvetica Neue"/>
                <a:cs typeface="Helvetica Neue"/>
              </a:rPr>
              <a:t>Capture resolutions, dismissals, comments and reactions; measure precision.</a:t>
            </a:r>
          </a:p>
        </p:txBody>
      </p:sp>
      <p:sp>
        <p:nvSpPr>
          <p:cNvPr id="15" name="trust-rule-1">
            <a:extLst xmlns:a="http://schemas.openxmlformats.org/drawingml/2006/main">
              <a:ext uri="{FF2B5EF4-FFF2-40B4-BE49-F238E27FC236}">
                <a16:creationId xmlns:a16="http://schemas.microsoft.com/office/drawing/2014/main" id="{CCFF60AF-F5A6-407B-ADD8-CAD7DE3DC479}"/>
              </a:ext>
            </a:extLst>
          </p:cNvPr>
          <p:cNvSpPr>
            <a:spLocks xmlns:a="http://schemas.openxmlformats.org/drawingml/2006/main" noGrp="1"/>
          </p:cNvSpPr>
          <p:nvPr/>
        </p:nvSpPr>
        <p:spPr>
          <a:xfrm xmlns:a="http://schemas.openxmlformats.org/drawingml/2006/main">
            <a:off x="5467350" y="4152900"/>
            <a:ext cx="55435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trust-title-2">
            <a:extLst xmlns:a="http://schemas.openxmlformats.org/drawingml/2006/main">
              <a:ext uri="{FF2B5EF4-FFF2-40B4-BE49-F238E27FC236}">
                <a16:creationId xmlns:a16="http://schemas.microsoft.com/office/drawing/2014/main" id="{EB2E1FE3-EDF8-462F-832B-2BCEF74C6D69}"/>
              </a:ext>
            </a:extLst>
          </p:cNvPr>
          <p:cNvSpPr>
            <a:spLocks xmlns:a="http://schemas.openxmlformats.org/drawingml/2006/main" noGrp="1"/>
          </p:cNvSpPr>
          <p:nvPr/>
        </p:nvSpPr>
        <p:spPr>
          <a:xfrm xmlns:a="http://schemas.openxmlformats.org/drawingml/2006/main">
            <a:off x="5467350" y="43434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01114"/>
                </a:solidFill>
                <a:latin typeface="Helvetica Neue"/>
                <a:ea typeface="Helvetica Neue"/>
                <a:cs typeface="Helvetica Neue"/>
              </a:defRPr>
            </a:pPr>
            <a:r>
              <a:rPr sz="1725" b="1">
                <a:solidFill>
                  <a:srgbClr val="101114"/>
                </a:solidFill>
                <a:latin typeface="Helvetica Neue"/>
                <a:ea typeface="Helvetica Neue"/>
                <a:cs typeface="Helvetica Neue"/>
              </a:rPr>
              <a:t>Enterprise controls</a:t>
            </a:r>
          </a:p>
        </p:txBody>
      </p:sp>
      <p:sp>
        <p:nvSpPr>
          <p:cNvPr id="17" name="trust-body-2">
            <a:extLst xmlns:a="http://schemas.openxmlformats.org/drawingml/2006/main">
              <a:ext uri="{FF2B5EF4-FFF2-40B4-BE49-F238E27FC236}">
                <a16:creationId xmlns:a16="http://schemas.microsoft.com/office/drawing/2014/main" id="{783B457D-3617-46C7-8169-EF168493408B}"/>
              </a:ext>
            </a:extLst>
          </p:cNvPr>
          <p:cNvSpPr>
            <a:spLocks xmlns:a="http://schemas.openxmlformats.org/drawingml/2006/main" noGrp="1"/>
          </p:cNvSpPr>
          <p:nvPr/>
        </p:nvSpPr>
        <p:spPr>
          <a:xfrm xmlns:a="http://schemas.openxmlformats.org/drawingml/2006/main">
            <a:off x="5467350" y="47434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F6670"/>
                </a:solidFill>
                <a:latin typeface="Helvetica Neue"/>
                <a:ea typeface="Helvetica Neue"/>
                <a:cs typeface="Helvetica Neue"/>
              </a:defRPr>
            </a:pPr>
            <a:r>
              <a:rPr sz="1350" b="0">
                <a:solidFill>
                  <a:srgbClr val="5F6670"/>
                </a:solidFill>
                <a:latin typeface="Helvetica Neue"/>
                <a:ea typeface="Helvetica Neue"/>
                <a:cs typeface="Helvetica Neue"/>
              </a:rPr>
              <a:t>Approved runtime, sensitive-data masking, pinned dependencies and complete audit.</a:t>
            </a:r>
          </a:p>
        </p:txBody>
      </p:sp>
      <p:sp>
        <p:nvSpPr>
          <p:cNvPr id="18" name="trust-caveat">
            <a:extLst xmlns:a="http://schemas.openxmlformats.org/drawingml/2006/main">
              <a:ext uri="{FF2B5EF4-FFF2-40B4-BE49-F238E27FC236}">
                <a16:creationId xmlns:a16="http://schemas.microsoft.com/office/drawing/2014/main" id="{CD581329-EF64-46DF-AB70-21DE15EEB9F7}"/>
              </a:ext>
            </a:extLst>
          </p:cNvPr>
          <p:cNvSpPr>
            <a:spLocks xmlns:a="http://schemas.openxmlformats.org/drawingml/2006/main" noGrp="1"/>
          </p:cNvSpPr>
          <p:nvPr/>
        </p:nvSpPr>
        <p:spPr>
          <a:xfrm xmlns:a="http://schemas.openxmlformats.org/drawingml/2006/main">
            <a:off x="5467350" y="5600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B42318"/>
                </a:solidFill>
                <a:latin typeface="Helvetica Neue"/>
                <a:ea typeface="Helvetica Neue"/>
                <a:cs typeface="Helvetica Neue"/>
              </a:defRPr>
            </a:pPr>
            <a:r>
              <a:rPr sz="1275" b="1">
                <a:solidFill>
                  <a:srgbClr val="B42318"/>
                </a:solidFill>
                <a:latin typeface="Helvetica Neue"/>
                <a:ea typeface="Helvetica Neue"/>
                <a:cs typeface="Helvetica Neue"/>
              </a:rPr>
              <a:t>“Allowed” means no configured blocking issue was found—not that the code is guaranteed safe.</a:t>
            </a:r>
          </a:p>
        </p:txBody>
      </p:sp>
    </p:spTree>
    <p:extLst>
      <p:ext uri="{BB962C8B-B14F-4D97-AF65-F5344CB8AC3E}">
        <p14:creationId xmlns:p14="http://schemas.microsoft.com/office/powerpoint/2010/main" val="4561307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8">
            <a:extLst xmlns:a="http://schemas.openxmlformats.org/drawingml/2006/main">
              <a:ext uri="{FF2B5EF4-FFF2-40B4-BE49-F238E27FC236}">
                <a16:creationId xmlns:a16="http://schemas.microsoft.com/office/drawing/2014/main" id="{1378306D-BD87-4DB0-9AB3-F6AAD864C89D}"/>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8">
            <a:extLst xmlns:a="http://schemas.openxmlformats.org/drawingml/2006/main">
              <a:ext uri="{FF2B5EF4-FFF2-40B4-BE49-F238E27FC236}">
                <a16:creationId xmlns:a16="http://schemas.microsoft.com/office/drawing/2014/main" id="{2C13F657-2A2B-4D2D-90D8-532F5292994A}"/>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Five actions unlock enterprise readiness</a:t>
            </a:r>
          </a:p>
        </p:txBody>
      </p:sp>
      <p:sp>
        <p:nvSpPr>
          <p:cNvPr id="3" name="accent-8">
            <a:extLst xmlns:a="http://schemas.openxmlformats.org/drawingml/2006/main">
              <a:ext uri="{FF2B5EF4-FFF2-40B4-BE49-F238E27FC236}">
                <a16:creationId xmlns:a16="http://schemas.microsoft.com/office/drawing/2014/main" id="{46079FDD-4DCA-4950-84EA-18406380900B}"/>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8">
            <a:extLst xmlns:a="http://schemas.openxmlformats.org/drawingml/2006/main">
              <a:ext uri="{FF2B5EF4-FFF2-40B4-BE49-F238E27FC236}">
                <a16:creationId xmlns:a16="http://schemas.microsoft.com/office/drawing/2014/main" id="{F59FD1BF-3F81-4BFE-87E9-50C634A2611A}"/>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8</a:t>
            </a:r>
          </a:p>
        </p:txBody>
      </p:sp>
      <p:sp>
        <p:nvSpPr>
          <p:cNvPr id="5" name="ready-row-0">
            <a:extLst xmlns:a="http://schemas.openxmlformats.org/drawingml/2006/main">
              <a:ext uri="{FF2B5EF4-FFF2-40B4-BE49-F238E27FC236}">
                <a16:creationId xmlns:a16="http://schemas.microsoft.com/office/drawing/2014/main" id="{C7C5061F-1F1E-425D-A44A-D99E5142ACF2}"/>
              </a:ext>
            </a:extLst>
          </p:cNvPr>
          <p:cNvSpPr>
            <a:spLocks xmlns:a="http://schemas.openxmlformats.org/drawingml/2006/main" noGrp="1"/>
          </p:cNvSpPr>
          <p:nvPr/>
        </p:nvSpPr>
        <p:spPr>
          <a:xfrm xmlns:a="http://schemas.openxmlformats.org/drawingml/2006/main">
            <a:off x="400050" y="1733550"/>
            <a:ext cx="11010900" cy="6096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ready-area-0">
            <a:extLst xmlns:a="http://schemas.openxmlformats.org/drawingml/2006/main">
              <a:ext uri="{FF2B5EF4-FFF2-40B4-BE49-F238E27FC236}">
                <a16:creationId xmlns:a16="http://schemas.microsoft.com/office/drawing/2014/main" id="{F71BC186-7687-4F82-A04A-3E4979FB5B5B}"/>
              </a:ext>
            </a:extLst>
          </p:cNvPr>
          <p:cNvSpPr>
            <a:spLocks xmlns:a="http://schemas.openxmlformats.org/drawingml/2006/main" noGrp="1"/>
          </p:cNvSpPr>
          <p:nvPr/>
        </p:nvSpPr>
        <p:spPr>
          <a:xfrm xmlns:a="http://schemas.openxmlformats.org/drawingml/2006/main">
            <a:off x="628650" y="18954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01114"/>
                </a:solidFill>
                <a:latin typeface="Helvetica Neue"/>
                <a:ea typeface="Helvetica Neue"/>
                <a:cs typeface="Helvetica Neue"/>
              </a:defRPr>
            </a:pPr>
            <a:r>
              <a:rPr sz="1425" b="1">
                <a:solidFill>
                  <a:srgbClr val="101114"/>
                </a:solidFill>
                <a:latin typeface="Helvetica Neue"/>
                <a:ea typeface="Helvetica Neue"/>
                <a:cs typeface="Helvetica Neue"/>
              </a:rPr>
              <a:t>Authentication</a:t>
            </a:r>
          </a:p>
        </p:txBody>
      </p:sp>
      <p:sp>
        <p:nvSpPr>
          <p:cNvPr id="7" name="ready-dir-0">
            <a:extLst xmlns:a="http://schemas.openxmlformats.org/drawingml/2006/main">
              <a:ext uri="{FF2B5EF4-FFF2-40B4-BE49-F238E27FC236}">
                <a16:creationId xmlns:a16="http://schemas.microsoft.com/office/drawing/2014/main" id="{019DE4A3-A6C1-4A58-805F-EA2BF9FE1A06}"/>
              </a:ext>
            </a:extLst>
          </p:cNvPr>
          <p:cNvSpPr>
            <a:spLocks xmlns:a="http://schemas.openxmlformats.org/drawingml/2006/main" noGrp="1"/>
          </p:cNvSpPr>
          <p:nvPr/>
        </p:nvSpPr>
        <p:spPr>
          <a:xfrm xmlns:a="http://schemas.openxmlformats.org/drawingml/2006/main">
            <a:off x="3124200" y="189547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01114"/>
                </a:solidFill>
                <a:latin typeface="Helvetica Neue"/>
                <a:ea typeface="Helvetica Neue"/>
                <a:cs typeface="Helvetica Neue"/>
              </a:defRPr>
            </a:pPr>
            <a:r>
              <a:rPr sz="1350" b="0">
                <a:solidFill>
                  <a:srgbClr val="101114"/>
                </a:solidFill>
                <a:latin typeface="Helvetica Neue"/>
                <a:ea typeface="Helvetica Neue"/>
                <a:cs typeface="Helvetica Neue"/>
              </a:rPr>
              <a:t>Approved service identity or enterprise credential model</a:t>
            </a:r>
          </a:p>
        </p:txBody>
      </p:sp>
      <p:sp>
        <p:nvSpPr>
          <p:cNvPr id="8" name="ready-row-1">
            <a:extLst xmlns:a="http://schemas.openxmlformats.org/drawingml/2006/main">
              <a:ext uri="{FF2B5EF4-FFF2-40B4-BE49-F238E27FC236}">
                <a16:creationId xmlns:a16="http://schemas.microsoft.com/office/drawing/2014/main" id="{BFE93D70-028B-450B-8F5F-4A1054B9597B}"/>
              </a:ext>
            </a:extLst>
          </p:cNvPr>
          <p:cNvSpPr>
            <a:spLocks xmlns:a="http://schemas.openxmlformats.org/drawingml/2006/main" noGrp="1"/>
          </p:cNvSpPr>
          <p:nvPr/>
        </p:nvSpPr>
        <p:spPr>
          <a:xfrm xmlns:a="http://schemas.openxmlformats.org/drawingml/2006/main">
            <a:off x="400050" y="2476500"/>
            <a:ext cx="11010900" cy="6096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ready-area-1">
            <a:extLst xmlns:a="http://schemas.openxmlformats.org/drawingml/2006/main">
              <a:ext uri="{FF2B5EF4-FFF2-40B4-BE49-F238E27FC236}">
                <a16:creationId xmlns:a16="http://schemas.microsoft.com/office/drawing/2014/main" id="{717BF8EC-CACA-421C-80A1-86E6757B10FC}"/>
              </a:ext>
            </a:extLst>
          </p:cNvPr>
          <p:cNvSpPr>
            <a:spLocks xmlns:a="http://schemas.openxmlformats.org/drawingml/2006/main" noGrp="1"/>
          </p:cNvSpPr>
          <p:nvPr/>
        </p:nvSpPr>
        <p:spPr>
          <a:xfrm xmlns:a="http://schemas.openxmlformats.org/drawingml/2006/main">
            <a:off x="628650" y="26384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01114"/>
                </a:solidFill>
                <a:latin typeface="Helvetica Neue"/>
                <a:ea typeface="Helvetica Neue"/>
                <a:cs typeface="Helvetica Neue"/>
              </a:defRPr>
            </a:pPr>
            <a:r>
              <a:rPr sz="1425" b="1">
                <a:solidFill>
                  <a:srgbClr val="101114"/>
                </a:solidFill>
                <a:latin typeface="Helvetica Neue"/>
                <a:ea typeface="Helvetica Neue"/>
                <a:cs typeface="Helvetica Neue"/>
              </a:rPr>
              <a:t>AI governance</a:t>
            </a:r>
          </a:p>
        </p:txBody>
      </p:sp>
      <p:sp>
        <p:nvSpPr>
          <p:cNvPr id="10" name="ready-dir-1">
            <a:extLst xmlns:a="http://schemas.openxmlformats.org/drawingml/2006/main">
              <a:ext uri="{FF2B5EF4-FFF2-40B4-BE49-F238E27FC236}">
                <a16:creationId xmlns:a16="http://schemas.microsoft.com/office/drawing/2014/main" id="{846503A9-A137-4A68-A15B-EA4238CB1124}"/>
              </a:ext>
            </a:extLst>
          </p:cNvPr>
          <p:cNvSpPr>
            <a:spLocks xmlns:a="http://schemas.openxmlformats.org/drawingml/2006/main" noGrp="1"/>
          </p:cNvSpPr>
          <p:nvPr/>
        </p:nvSpPr>
        <p:spPr>
          <a:xfrm xmlns:a="http://schemas.openxmlformats.org/drawingml/2006/main">
            <a:off x="3124200" y="263842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01114"/>
                </a:solidFill>
                <a:latin typeface="Helvetica Neue"/>
                <a:ea typeface="Helvetica Neue"/>
                <a:cs typeface="Helvetica Neue"/>
              </a:defRPr>
            </a:pPr>
            <a:r>
              <a:rPr sz="1350" b="0">
                <a:solidFill>
                  <a:srgbClr val="101114"/>
                </a:solidFill>
                <a:latin typeface="Helvetica Neue"/>
                <a:ea typeface="Helvetica Neue"/>
                <a:cs typeface="Helvetica Neue"/>
              </a:rPr>
              <a:t>AI Factory routing, access control, logging, evaluation and prompt governance</a:t>
            </a:r>
          </a:p>
        </p:txBody>
      </p:sp>
      <p:sp>
        <p:nvSpPr>
          <p:cNvPr id="11" name="ready-row-2">
            <a:extLst xmlns:a="http://schemas.openxmlformats.org/drawingml/2006/main">
              <a:ext uri="{FF2B5EF4-FFF2-40B4-BE49-F238E27FC236}">
                <a16:creationId xmlns:a16="http://schemas.microsoft.com/office/drawing/2014/main" id="{7E88AA16-4C9A-49ED-B232-0D07A63B96F7}"/>
              </a:ext>
            </a:extLst>
          </p:cNvPr>
          <p:cNvSpPr>
            <a:spLocks xmlns:a="http://schemas.openxmlformats.org/drawingml/2006/main" noGrp="1"/>
          </p:cNvSpPr>
          <p:nvPr/>
        </p:nvSpPr>
        <p:spPr>
          <a:xfrm xmlns:a="http://schemas.openxmlformats.org/drawingml/2006/main">
            <a:off x="400050" y="3219450"/>
            <a:ext cx="11010900" cy="6096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2" name="ready-area-2">
            <a:extLst xmlns:a="http://schemas.openxmlformats.org/drawingml/2006/main">
              <a:ext uri="{FF2B5EF4-FFF2-40B4-BE49-F238E27FC236}">
                <a16:creationId xmlns:a16="http://schemas.microsoft.com/office/drawing/2014/main" id="{4484D426-09B1-4D69-937B-75A06E987CE5}"/>
              </a:ext>
            </a:extLst>
          </p:cNvPr>
          <p:cNvSpPr>
            <a:spLocks xmlns:a="http://schemas.openxmlformats.org/drawingml/2006/main" noGrp="1"/>
          </p:cNvSpPr>
          <p:nvPr/>
        </p:nvSpPr>
        <p:spPr>
          <a:xfrm xmlns:a="http://schemas.openxmlformats.org/drawingml/2006/main">
            <a:off x="628650" y="33813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01114"/>
                </a:solidFill>
                <a:latin typeface="Helvetica Neue"/>
                <a:ea typeface="Helvetica Neue"/>
                <a:cs typeface="Helvetica Neue"/>
              </a:defRPr>
            </a:pPr>
            <a:r>
              <a:rPr sz="1425" b="1">
                <a:solidFill>
                  <a:srgbClr val="101114"/>
                </a:solidFill>
                <a:latin typeface="Helvetica Neue"/>
                <a:ea typeface="Helvetica Neue"/>
                <a:cs typeface="Helvetica Neue"/>
              </a:rPr>
              <a:t>Project context</a:t>
            </a:r>
          </a:p>
        </p:txBody>
      </p:sp>
      <p:sp>
        <p:nvSpPr>
          <p:cNvPr id="13" name="ready-dir-2">
            <a:extLst xmlns:a="http://schemas.openxmlformats.org/drawingml/2006/main">
              <a:ext uri="{FF2B5EF4-FFF2-40B4-BE49-F238E27FC236}">
                <a16:creationId xmlns:a16="http://schemas.microsoft.com/office/drawing/2014/main" id="{99163EF8-0A40-4753-9C5A-4CFDB1510E75}"/>
              </a:ext>
            </a:extLst>
          </p:cNvPr>
          <p:cNvSpPr>
            <a:spLocks xmlns:a="http://schemas.openxmlformats.org/drawingml/2006/main" noGrp="1"/>
          </p:cNvSpPr>
          <p:nvPr/>
        </p:nvSpPr>
        <p:spPr>
          <a:xfrm xmlns:a="http://schemas.openxmlformats.org/drawingml/2006/main">
            <a:off x="3124200" y="338137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01114"/>
                </a:solidFill>
                <a:latin typeface="Helvetica Neue"/>
                <a:ea typeface="Helvetica Neue"/>
                <a:cs typeface="Helvetica Neue"/>
              </a:defRPr>
            </a:pPr>
            <a:r>
              <a:rPr sz="1350" b="0">
                <a:solidFill>
                  <a:srgbClr val="101114"/>
                </a:solidFill>
                <a:latin typeface="Helvetica Neue"/>
                <a:ea typeface="Helvetica Neue"/>
                <a:cs typeface="Helvetica Neue"/>
              </a:rPr>
              <a:t>Standard context package as part of repository onboarding</a:t>
            </a:r>
          </a:p>
        </p:txBody>
      </p:sp>
      <p:sp>
        <p:nvSpPr>
          <p:cNvPr id="14" name="ready-row-3">
            <a:extLst xmlns:a="http://schemas.openxmlformats.org/drawingml/2006/main">
              <a:ext uri="{FF2B5EF4-FFF2-40B4-BE49-F238E27FC236}">
                <a16:creationId xmlns:a16="http://schemas.microsoft.com/office/drawing/2014/main" id="{55BD02BE-532D-48E5-9260-7A28DF7A7255}"/>
              </a:ext>
            </a:extLst>
          </p:cNvPr>
          <p:cNvSpPr>
            <a:spLocks xmlns:a="http://schemas.openxmlformats.org/drawingml/2006/main" noGrp="1"/>
          </p:cNvSpPr>
          <p:nvPr/>
        </p:nvSpPr>
        <p:spPr>
          <a:xfrm xmlns:a="http://schemas.openxmlformats.org/drawingml/2006/main">
            <a:off x="400050" y="3962400"/>
            <a:ext cx="11010900" cy="6096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5" name="ready-area-3">
            <a:extLst xmlns:a="http://schemas.openxmlformats.org/drawingml/2006/main">
              <a:ext uri="{FF2B5EF4-FFF2-40B4-BE49-F238E27FC236}">
                <a16:creationId xmlns:a16="http://schemas.microsoft.com/office/drawing/2014/main" id="{8AC77E00-546F-4C0E-BA31-4B307B0443F4}"/>
              </a:ext>
            </a:extLst>
          </p:cNvPr>
          <p:cNvSpPr>
            <a:spLocks xmlns:a="http://schemas.openxmlformats.org/drawingml/2006/main" noGrp="1"/>
          </p:cNvSpPr>
          <p:nvPr/>
        </p:nvSpPr>
        <p:spPr>
          <a:xfrm xmlns:a="http://schemas.openxmlformats.org/drawingml/2006/main">
            <a:off x="628650" y="41243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01114"/>
                </a:solidFill>
                <a:latin typeface="Helvetica Neue"/>
                <a:ea typeface="Helvetica Neue"/>
                <a:cs typeface="Helvetica Neue"/>
              </a:defRPr>
            </a:pPr>
            <a:r>
              <a:rPr sz="1425" b="1">
                <a:solidFill>
                  <a:srgbClr val="101114"/>
                </a:solidFill>
                <a:latin typeface="Helvetica Neue"/>
                <a:ea typeface="Helvetica Neue"/>
                <a:cs typeface="Helvetica Neue"/>
              </a:rPr>
              <a:t>Operating model</a:t>
            </a:r>
          </a:p>
        </p:txBody>
      </p:sp>
      <p:sp>
        <p:nvSpPr>
          <p:cNvPr id="16" name="ready-dir-3">
            <a:extLst xmlns:a="http://schemas.openxmlformats.org/drawingml/2006/main">
              <a:ext uri="{FF2B5EF4-FFF2-40B4-BE49-F238E27FC236}">
                <a16:creationId xmlns:a16="http://schemas.microsoft.com/office/drawing/2014/main" id="{7E8979E4-382F-4100-8E86-BDF87C7B2D2C}"/>
              </a:ext>
            </a:extLst>
          </p:cNvPr>
          <p:cNvSpPr>
            <a:spLocks xmlns:a="http://schemas.openxmlformats.org/drawingml/2006/main" noGrp="1"/>
          </p:cNvSpPr>
          <p:nvPr/>
        </p:nvSpPr>
        <p:spPr>
          <a:xfrm xmlns:a="http://schemas.openxmlformats.org/drawingml/2006/main">
            <a:off x="3124200" y="412432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01114"/>
                </a:solidFill>
                <a:latin typeface="Helvetica Neue"/>
                <a:ea typeface="Helvetica Neue"/>
                <a:cs typeface="Helvetica Neue"/>
              </a:defRPr>
            </a:pPr>
            <a:r>
              <a:rPr sz="1350" b="0">
                <a:solidFill>
                  <a:srgbClr val="101114"/>
                </a:solidFill>
                <a:latin typeface="Helvetica Neue"/>
                <a:ea typeface="Helvetica Neue"/>
                <a:cs typeface="Helvetica Neue"/>
              </a:rPr>
              <a:t>Named ownership, support, versioning, exceptions and rollout</a:t>
            </a:r>
          </a:p>
        </p:txBody>
      </p:sp>
      <p:sp>
        <p:nvSpPr>
          <p:cNvPr id="17" name="ready-row-4">
            <a:extLst xmlns:a="http://schemas.openxmlformats.org/drawingml/2006/main">
              <a:ext uri="{FF2B5EF4-FFF2-40B4-BE49-F238E27FC236}">
                <a16:creationId xmlns:a16="http://schemas.microsoft.com/office/drawing/2014/main" id="{EE1B35A6-EA08-40D5-88EF-6BE9E41F35FE}"/>
              </a:ext>
            </a:extLst>
          </p:cNvPr>
          <p:cNvSpPr>
            <a:spLocks xmlns:a="http://schemas.openxmlformats.org/drawingml/2006/main" noGrp="1"/>
          </p:cNvSpPr>
          <p:nvPr/>
        </p:nvSpPr>
        <p:spPr>
          <a:xfrm xmlns:a="http://schemas.openxmlformats.org/drawingml/2006/main">
            <a:off x="400050" y="4705350"/>
            <a:ext cx="11010900" cy="609600"/>
          </a:xfrm>
          <a:prstGeom xmlns:a="http://schemas.openxmlformats.org/drawingml/2006/main" prst="rect">
            <a:avLst/>
          </a:prstGeom>
          <a:solidFill xmlns:a="http://schemas.openxmlformats.org/drawingml/2006/main">
            <a:srgbClr val="E7F5FC"/>
          </a:solidFill>
          <a:ln xmlns:a="http://schemas.openxmlformats.org/drawingml/2006/main" w="0">
            <a:noFill/>
            <a:prstDash val="solid"/>
          </a:ln>
        </p:spPr>
      </p:sp>
      <p:sp>
        <p:nvSpPr>
          <p:cNvPr id="18" name="ready-area-4">
            <a:extLst xmlns:a="http://schemas.openxmlformats.org/drawingml/2006/main">
              <a:ext uri="{FF2B5EF4-FFF2-40B4-BE49-F238E27FC236}">
                <a16:creationId xmlns:a16="http://schemas.microsoft.com/office/drawing/2014/main" id="{13144799-CC0D-4E3A-967E-FA939EF4BA7D}"/>
              </a:ext>
            </a:extLst>
          </p:cNvPr>
          <p:cNvSpPr>
            <a:spLocks xmlns:a="http://schemas.openxmlformats.org/drawingml/2006/main" noGrp="1"/>
          </p:cNvSpPr>
          <p:nvPr/>
        </p:nvSpPr>
        <p:spPr>
          <a:xfrm xmlns:a="http://schemas.openxmlformats.org/drawingml/2006/main">
            <a:off x="628650" y="48672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Evidence</a:t>
            </a:r>
          </a:p>
        </p:txBody>
      </p:sp>
      <p:sp>
        <p:nvSpPr>
          <p:cNvPr id="19" name="ready-dir-4">
            <a:extLst xmlns:a="http://schemas.openxmlformats.org/drawingml/2006/main">
              <a:ext uri="{FF2B5EF4-FFF2-40B4-BE49-F238E27FC236}">
                <a16:creationId xmlns:a16="http://schemas.microsoft.com/office/drawing/2014/main" id="{E79FD8B2-FA00-4C89-BF25-1E0CC7A2F0E7}"/>
              </a:ext>
            </a:extLst>
          </p:cNvPr>
          <p:cNvSpPr>
            <a:spLocks xmlns:a="http://schemas.openxmlformats.org/drawingml/2006/main" noGrp="1"/>
          </p:cNvSpPr>
          <p:nvPr/>
        </p:nvSpPr>
        <p:spPr>
          <a:xfrm xmlns:a="http://schemas.openxmlformats.org/drawingml/2006/main">
            <a:off x="3124200" y="486727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01114"/>
                </a:solidFill>
                <a:latin typeface="Helvetica Neue"/>
                <a:ea typeface="Helvetica Neue"/>
                <a:cs typeface="Helvetica Neue"/>
              </a:defRPr>
            </a:pPr>
            <a:r>
              <a:rPr sz="1350" b="0">
                <a:solidFill>
                  <a:srgbClr val="101114"/>
                </a:solidFill>
                <a:latin typeface="Helvetica Neue"/>
                <a:ea typeface="Helvetica Neue"/>
                <a:cs typeface="Helvetica Neue"/>
              </a:rPr>
              <a:t>Measured pilot before broader adoption or stronger gating</a:t>
            </a:r>
          </a:p>
        </p:txBody>
      </p:sp>
      <p:sp>
        <p:nvSpPr>
          <p:cNvPr id="20" name="context-foot">
            <a:extLst xmlns:a="http://schemas.openxmlformats.org/drawingml/2006/main">
              <a:ext uri="{FF2B5EF4-FFF2-40B4-BE49-F238E27FC236}">
                <a16:creationId xmlns:a16="http://schemas.microsoft.com/office/drawing/2014/main" id="{F5866DFB-82CE-45F8-914B-D1955128663E}"/>
              </a:ext>
            </a:extLst>
          </p:cNvPr>
          <p:cNvSpPr>
            <a:spLocks xmlns:a="http://schemas.openxmlformats.org/drawingml/2006/main" noGrp="1"/>
          </p:cNvSpPr>
          <p:nvPr/>
        </p:nvSpPr>
        <p:spPr>
          <a:xfrm xmlns:a="http://schemas.openxmlformats.org/drawingml/2006/main">
            <a:off x="400050" y="57340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F6670"/>
                </a:solidFill>
                <a:latin typeface="Helvetica Neue"/>
                <a:ea typeface="Helvetica Neue"/>
                <a:cs typeface="Helvetica Neue"/>
              </a:defRPr>
            </a:pPr>
            <a:r>
              <a:rPr sz="1200" b="0">
                <a:solidFill>
                  <a:srgbClr val="5F6670"/>
                </a:solidFill>
                <a:latin typeface="Helvetica Neue"/>
                <a:ea typeface="Helvetica Neue"/>
                <a:cs typeface="Helvetica Neue"/>
              </a:rPr>
              <a:t>Repository context package: architecture · coding/testing/observability standards · dependency rules · critical flows · known risks</a:t>
            </a:r>
          </a:p>
        </p:txBody>
      </p:sp>
    </p:spTree>
    <p:extLst>
      <p:ext uri="{BB962C8B-B14F-4D97-AF65-F5344CB8AC3E}">
        <p14:creationId xmlns:p14="http://schemas.microsoft.com/office/powerpoint/2010/main" val="16371861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eyebrow-9">
            <a:extLst xmlns:a="http://schemas.openxmlformats.org/drawingml/2006/main">
              <a:ext uri="{FF2B5EF4-FFF2-40B4-BE49-F238E27FC236}">
                <a16:creationId xmlns:a16="http://schemas.microsoft.com/office/drawing/2014/main" id="{BBF95A07-422E-4375-96E7-0CF0FF078DA9}"/>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RATAN CODE REVIEW AGENT</a:t>
            </a:r>
          </a:p>
        </p:txBody>
      </p:sp>
      <p:sp>
        <p:nvSpPr>
          <p:cNvPr id="2" name="title-9">
            <a:extLst xmlns:a="http://schemas.openxmlformats.org/drawingml/2006/main">
              <a:ext uri="{FF2B5EF4-FFF2-40B4-BE49-F238E27FC236}">
                <a16:creationId xmlns:a16="http://schemas.microsoft.com/office/drawing/2014/main" id="{C20045C4-6CCB-43B4-9B58-5FBAE3F39276}"/>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The demo follows one PR to one current decision</a:t>
            </a:r>
          </a:p>
        </p:txBody>
      </p:sp>
      <p:sp>
        <p:nvSpPr>
          <p:cNvPr id="3" name="accent-9">
            <a:extLst xmlns:a="http://schemas.openxmlformats.org/drawingml/2006/main">
              <a:ext uri="{FF2B5EF4-FFF2-40B4-BE49-F238E27FC236}">
                <a16:creationId xmlns:a16="http://schemas.microsoft.com/office/drawing/2014/main" id="{4232C0D7-BFDB-4AB5-A59F-1F34B2C26BD4}"/>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9">
            <a:extLst xmlns:a="http://schemas.openxmlformats.org/drawingml/2006/main">
              <a:ext uri="{FF2B5EF4-FFF2-40B4-BE49-F238E27FC236}">
                <a16:creationId xmlns:a16="http://schemas.microsoft.com/office/drawing/2014/main" id="{515F206B-F362-4007-87D5-E276BF7AC0F3}"/>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9</a:t>
            </a:r>
          </a:p>
        </p:txBody>
      </p:sp>
      <p:sp>
        <p:nvSpPr>
          <p:cNvPr id="5" name="demo-command-bg">
            <a:extLst xmlns:a="http://schemas.openxmlformats.org/drawingml/2006/main">
              <a:ext uri="{FF2B5EF4-FFF2-40B4-BE49-F238E27FC236}">
                <a16:creationId xmlns:a16="http://schemas.microsoft.com/office/drawing/2014/main" id="{DAB16F99-5444-4941-A28C-A9018B35DFAA}"/>
              </a:ext>
            </a:extLst>
          </p:cNvPr>
          <p:cNvSpPr>
            <a:spLocks xmlns:a="http://schemas.openxmlformats.org/drawingml/2006/main" noGrp="1"/>
          </p:cNvSpPr>
          <p:nvPr/>
        </p:nvSpPr>
        <p:spPr>
          <a:xfrm xmlns:a="http://schemas.openxmlformats.org/drawingml/2006/main">
            <a:off x="400050" y="1695450"/>
            <a:ext cx="3905250" cy="5905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6" name="demo-command">
            <a:extLst xmlns:a="http://schemas.openxmlformats.org/drawingml/2006/main">
              <a:ext uri="{FF2B5EF4-FFF2-40B4-BE49-F238E27FC236}">
                <a16:creationId xmlns:a16="http://schemas.microsoft.com/office/drawing/2014/main" id="{6CAB3237-7952-4B76-8354-E006B9F98947}"/>
              </a:ext>
            </a:extLst>
          </p:cNvPr>
          <p:cNvSpPr>
            <a:spLocks xmlns:a="http://schemas.openxmlformats.org/drawingml/2006/main" noGrp="1"/>
          </p:cNvSpPr>
          <p:nvPr/>
        </p:nvSpPr>
        <p:spPr>
          <a:xfrm xmlns:a="http://schemas.openxmlformats.org/drawingml/2006/main">
            <a:off x="609600" y="1876425"/>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ratan-code-review start --pr-id 123</a:t>
            </a:r>
          </a:p>
        </p:txBody>
      </p:sp>
      <p:sp>
        <p:nvSpPr>
          <p:cNvPr id="7" name="demo-line">
            <a:extLst xmlns:a="http://schemas.openxmlformats.org/drawingml/2006/main">
              <a:ext uri="{FF2B5EF4-FFF2-40B4-BE49-F238E27FC236}">
                <a16:creationId xmlns:a16="http://schemas.microsoft.com/office/drawing/2014/main" id="{8D88BB71-59E1-41DD-A6F5-CC5754D6F31D}"/>
              </a:ext>
            </a:extLst>
          </p:cNvPr>
          <p:cNvSpPr>
            <a:spLocks xmlns:a="http://schemas.openxmlformats.org/drawingml/2006/main" noGrp="1"/>
          </p:cNvSpPr>
          <p:nvPr/>
        </p:nvSpPr>
        <p:spPr>
          <a:xfrm xmlns:a="http://schemas.openxmlformats.org/drawingml/2006/main">
            <a:off x="876300" y="2933700"/>
            <a:ext cx="102870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demo-dot-0">
            <a:extLst xmlns:a="http://schemas.openxmlformats.org/drawingml/2006/main">
              <a:ext uri="{FF2B5EF4-FFF2-40B4-BE49-F238E27FC236}">
                <a16:creationId xmlns:a16="http://schemas.microsoft.com/office/drawing/2014/main" id="{0749C9E1-8B4C-488B-A43A-7E0A6DBF47A5}"/>
              </a:ext>
            </a:extLst>
          </p:cNvPr>
          <p:cNvSpPr>
            <a:spLocks xmlns:a="http://schemas.openxmlformats.org/drawingml/2006/main" noGrp="1"/>
          </p:cNvSpPr>
          <p:nvPr/>
        </p:nvSpPr>
        <p:spPr>
          <a:xfrm xmlns:a="http://schemas.openxmlformats.org/drawingml/2006/main">
            <a:off x="533400"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9" name="demo-n-0">
            <a:extLst xmlns:a="http://schemas.openxmlformats.org/drawingml/2006/main">
              <a:ext uri="{FF2B5EF4-FFF2-40B4-BE49-F238E27FC236}">
                <a16:creationId xmlns:a16="http://schemas.microsoft.com/office/drawing/2014/main" id="{7C08957B-F850-495D-BFEE-7939E363DF99}"/>
              </a:ext>
            </a:extLst>
          </p:cNvPr>
          <p:cNvSpPr>
            <a:spLocks xmlns:a="http://schemas.openxmlformats.org/drawingml/2006/main" noGrp="1"/>
          </p:cNvSpPr>
          <p:nvPr/>
        </p:nvSpPr>
        <p:spPr>
          <a:xfrm xmlns:a="http://schemas.openxmlformats.org/drawingml/2006/main">
            <a:off x="53340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10" name="demo-title-0">
            <a:extLst xmlns:a="http://schemas.openxmlformats.org/drawingml/2006/main">
              <a:ext uri="{FF2B5EF4-FFF2-40B4-BE49-F238E27FC236}">
                <a16:creationId xmlns:a16="http://schemas.microsoft.com/office/drawing/2014/main" id="{55C17FC5-9FF0-4097-A521-E86B8BE4DE26}"/>
              </a:ext>
            </a:extLst>
          </p:cNvPr>
          <p:cNvSpPr>
            <a:spLocks xmlns:a="http://schemas.openxmlformats.org/drawingml/2006/main" noGrp="1"/>
          </p:cNvSpPr>
          <p:nvPr/>
        </p:nvSpPr>
        <p:spPr>
          <a:xfrm xmlns:a="http://schemas.openxmlformats.org/drawingml/2006/main">
            <a:off x="43815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Retrieve</a:t>
            </a:r>
          </a:p>
        </p:txBody>
      </p:sp>
      <p:sp>
        <p:nvSpPr>
          <p:cNvPr id="11" name="demo-sub-0">
            <a:extLst xmlns:a="http://schemas.openxmlformats.org/drawingml/2006/main">
              <a:ext uri="{FF2B5EF4-FFF2-40B4-BE49-F238E27FC236}">
                <a16:creationId xmlns:a16="http://schemas.microsoft.com/office/drawing/2014/main" id="{47D68E3F-12F3-4E58-AD03-D5ACF088165D}"/>
              </a:ext>
            </a:extLst>
          </p:cNvPr>
          <p:cNvSpPr>
            <a:spLocks xmlns:a="http://schemas.openxmlformats.org/drawingml/2006/main" noGrp="1"/>
          </p:cNvSpPr>
          <p:nvPr/>
        </p:nvSpPr>
        <p:spPr>
          <a:xfrm xmlns:a="http://schemas.openxmlformats.org/drawingml/2006/main">
            <a:off x="43815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PR + work items</a:t>
            </a:r>
          </a:p>
        </p:txBody>
      </p:sp>
      <p:sp>
        <p:nvSpPr>
          <p:cNvPr id="12" name="demo-dot-1">
            <a:extLst xmlns:a="http://schemas.openxmlformats.org/drawingml/2006/main">
              <a:ext uri="{FF2B5EF4-FFF2-40B4-BE49-F238E27FC236}">
                <a16:creationId xmlns:a16="http://schemas.microsoft.com/office/drawing/2014/main" id="{E0A54F7C-1A8E-4A7F-A9A2-8A07E9B0C405}"/>
              </a:ext>
            </a:extLst>
          </p:cNvPr>
          <p:cNvSpPr>
            <a:spLocks xmlns:a="http://schemas.openxmlformats.org/drawingml/2006/main" noGrp="1"/>
          </p:cNvSpPr>
          <p:nvPr/>
        </p:nvSpPr>
        <p:spPr>
          <a:xfrm xmlns:a="http://schemas.openxmlformats.org/drawingml/2006/main">
            <a:off x="1914525"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13" name="demo-n-1">
            <a:extLst xmlns:a="http://schemas.openxmlformats.org/drawingml/2006/main">
              <a:ext uri="{FF2B5EF4-FFF2-40B4-BE49-F238E27FC236}">
                <a16:creationId xmlns:a16="http://schemas.microsoft.com/office/drawing/2014/main" id="{468E198A-AC2A-4108-BDF7-AA9F61014879}"/>
              </a:ext>
            </a:extLst>
          </p:cNvPr>
          <p:cNvSpPr>
            <a:spLocks xmlns:a="http://schemas.openxmlformats.org/drawingml/2006/main" noGrp="1"/>
          </p:cNvSpPr>
          <p:nvPr/>
        </p:nvSpPr>
        <p:spPr>
          <a:xfrm xmlns:a="http://schemas.openxmlformats.org/drawingml/2006/main">
            <a:off x="191452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4" name="demo-title-1">
            <a:extLst xmlns:a="http://schemas.openxmlformats.org/drawingml/2006/main">
              <a:ext uri="{FF2B5EF4-FFF2-40B4-BE49-F238E27FC236}">
                <a16:creationId xmlns:a16="http://schemas.microsoft.com/office/drawing/2014/main" id="{64EEA111-61AD-44D2-B8CD-06A6215FD566}"/>
              </a:ext>
            </a:extLst>
          </p:cNvPr>
          <p:cNvSpPr>
            <a:spLocks xmlns:a="http://schemas.openxmlformats.org/drawingml/2006/main" noGrp="1"/>
          </p:cNvSpPr>
          <p:nvPr/>
        </p:nvSpPr>
        <p:spPr>
          <a:xfrm xmlns:a="http://schemas.openxmlformats.org/drawingml/2006/main">
            <a:off x="181927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Prepare</a:t>
            </a:r>
          </a:p>
        </p:txBody>
      </p:sp>
      <p:sp>
        <p:nvSpPr>
          <p:cNvPr id="15" name="demo-sub-1">
            <a:extLst xmlns:a="http://schemas.openxmlformats.org/drawingml/2006/main">
              <a:ext uri="{FF2B5EF4-FFF2-40B4-BE49-F238E27FC236}">
                <a16:creationId xmlns:a16="http://schemas.microsoft.com/office/drawing/2014/main" id="{4C6FE05D-9457-4013-A6A9-116002EDB135}"/>
              </a:ext>
            </a:extLst>
          </p:cNvPr>
          <p:cNvSpPr>
            <a:spLocks xmlns:a="http://schemas.openxmlformats.org/drawingml/2006/main" noGrp="1"/>
          </p:cNvSpPr>
          <p:nvPr/>
        </p:nvSpPr>
        <p:spPr>
          <a:xfrm xmlns:a="http://schemas.openxmlformats.org/drawingml/2006/main">
            <a:off x="181927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Isolated workspace</a:t>
            </a:r>
          </a:p>
        </p:txBody>
      </p:sp>
      <p:sp>
        <p:nvSpPr>
          <p:cNvPr id="16" name="demo-dot-2">
            <a:extLst xmlns:a="http://schemas.openxmlformats.org/drawingml/2006/main">
              <a:ext uri="{FF2B5EF4-FFF2-40B4-BE49-F238E27FC236}">
                <a16:creationId xmlns:a16="http://schemas.microsoft.com/office/drawing/2014/main" id="{8C232BFB-081B-4DD4-BA41-5CB7413B5490}"/>
              </a:ext>
            </a:extLst>
          </p:cNvPr>
          <p:cNvSpPr>
            <a:spLocks xmlns:a="http://schemas.openxmlformats.org/drawingml/2006/main" noGrp="1"/>
          </p:cNvSpPr>
          <p:nvPr/>
        </p:nvSpPr>
        <p:spPr>
          <a:xfrm xmlns:a="http://schemas.openxmlformats.org/drawingml/2006/main">
            <a:off x="3295650"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17" name="demo-n-2">
            <a:extLst xmlns:a="http://schemas.openxmlformats.org/drawingml/2006/main">
              <a:ext uri="{FF2B5EF4-FFF2-40B4-BE49-F238E27FC236}">
                <a16:creationId xmlns:a16="http://schemas.microsoft.com/office/drawing/2014/main" id="{373598A5-6330-4382-9A69-BD28BCC8FA0C}"/>
              </a:ext>
            </a:extLst>
          </p:cNvPr>
          <p:cNvSpPr>
            <a:spLocks xmlns:a="http://schemas.openxmlformats.org/drawingml/2006/main" noGrp="1"/>
          </p:cNvSpPr>
          <p:nvPr/>
        </p:nvSpPr>
        <p:spPr>
          <a:xfrm xmlns:a="http://schemas.openxmlformats.org/drawingml/2006/main">
            <a:off x="329565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8" name="demo-title-2">
            <a:extLst xmlns:a="http://schemas.openxmlformats.org/drawingml/2006/main">
              <a:ext uri="{FF2B5EF4-FFF2-40B4-BE49-F238E27FC236}">
                <a16:creationId xmlns:a16="http://schemas.microsoft.com/office/drawing/2014/main" id="{AE70F8B1-6B8C-4BC7-851B-44E26D3591E7}"/>
              </a:ext>
            </a:extLst>
          </p:cNvPr>
          <p:cNvSpPr>
            <a:spLocks xmlns:a="http://schemas.openxmlformats.org/drawingml/2006/main" noGrp="1"/>
          </p:cNvSpPr>
          <p:nvPr/>
        </p:nvSpPr>
        <p:spPr>
          <a:xfrm xmlns:a="http://schemas.openxmlformats.org/drawingml/2006/main">
            <a:off x="320040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Analyse</a:t>
            </a:r>
          </a:p>
        </p:txBody>
      </p:sp>
      <p:sp>
        <p:nvSpPr>
          <p:cNvPr id="19" name="demo-sub-2">
            <a:extLst xmlns:a="http://schemas.openxmlformats.org/drawingml/2006/main">
              <a:ext uri="{FF2B5EF4-FFF2-40B4-BE49-F238E27FC236}">
                <a16:creationId xmlns:a16="http://schemas.microsoft.com/office/drawing/2014/main" id="{8974206F-480E-4A43-A664-DE3988A22B8F}"/>
              </a:ext>
            </a:extLst>
          </p:cNvPr>
          <p:cNvSpPr>
            <a:spLocks xmlns:a="http://schemas.openxmlformats.org/drawingml/2006/main" noGrp="1"/>
          </p:cNvSpPr>
          <p:nvPr/>
        </p:nvSpPr>
        <p:spPr>
          <a:xfrm xmlns:a="http://schemas.openxmlformats.org/drawingml/2006/main">
            <a:off x="320040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AI + scanners</a:t>
            </a:r>
          </a:p>
        </p:txBody>
      </p:sp>
      <p:sp>
        <p:nvSpPr>
          <p:cNvPr id="20" name="demo-dot-3">
            <a:extLst xmlns:a="http://schemas.openxmlformats.org/drawingml/2006/main">
              <a:ext uri="{FF2B5EF4-FFF2-40B4-BE49-F238E27FC236}">
                <a16:creationId xmlns:a16="http://schemas.microsoft.com/office/drawing/2014/main" id="{760BEBF2-15B8-4E6F-B31D-47D900152E87}"/>
              </a:ext>
            </a:extLst>
          </p:cNvPr>
          <p:cNvSpPr>
            <a:spLocks xmlns:a="http://schemas.openxmlformats.org/drawingml/2006/main" noGrp="1"/>
          </p:cNvSpPr>
          <p:nvPr/>
        </p:nvSpPr>
        <p:spPr>
          <a:xfrm xmlns:a="http://schemas.openxmlformats.org/drawingml/2006/main">
            <a:off x="4676775"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21" name="demo-n-3">
            <a:extLst xmlns:a="http://schemas.openxmlformats.org/drawingml/2006/main">
              <a:ext uri="{FF2B5EF4-FFF2-40B4-BE49-F238E27FC236}">
                <a16:creationId xmlns:a16="http://schemas.microsoft.com/office/drawing/2014/main" id="{52A13F94-245F-4918-BD5A-C32410C8DCD0}"/>
              </a:ext>
            </a:extLst>
          </p:cNvPr>
          <p:cNvSpPr>
            <a:spLocks xmlns:a="http://schemas.openxmlformats.org/drawingml/2006/main" noGrp="1"/>
          </p:cNvSpPr>
          <p:nvPr/>
        </p:nvSpPr>
        <p:spPr>
          <a:xfrm xmlns:a="http://schemas.openxmlformats.org/drawingml/2006/main">
            <a:off x="467677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22" name="demo-title-3">
            <a:extLst xmlns:a="http://schemas.openxmlformats.org/drawingml/2006/main">
              <a:ext uri="{FF2B5EF4-FFF2-40B4-BE49-F238E27FC236}">
                <a16:creationId xmlns:a16="http://schemas.microsoft.com/office/drawing/2014/main" id="{DFFDA286-AB98-48EF-8DA4-E4B54178952A}"/>
              </a:ext>
            </a:extLst>
          </p:cNvPr>
          <p:cNvSpPr>
            <a:spLocks xmlns:a="http://schemas.openxmlformats.org/drawingml/2006/main" noGrp="1"/>
          </p:cNvSpPr>
          <p:nvPr/>
        </p:nvSpPr>
        <p:spPr>
          <a:xfrm xmlns:a="http://schemas.openxmlformats.org/drawingml/2006/main">
            <a:off x="458152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Persist</a:t>
            </a:r>
          </a:p>
        </p:txBody>
      </p:sp>
      <p:sp>
        <p:nvSpPr>
          <p:cNvPr id="23" name="demo-sub-3">
            <a:extLst xmlns:a="http://schemas.openxmlformats.org/drawingml/2006/main">
              <a:ext uri="{FF2B5EF4-FFF2-40B4-BE49-F238E27FC236}">
                <a16:creationId xmlns:a16="http://schemas.microsoft.com/office/drawing/2014/main" id="{2E14A418-8F6B-4595-B170-A182E08613AA}"/>
              </a:ext>
            </a:extLst>
          </p:cNvPr>
          <p:cNvSpPr>
            <a:spLocks xmlns:a="http://schemas.openxmlformats.org/drawingml/2006/main" noGrp="1"/>
          </p:cNvSpPr>
          <p:nvPr/>
        </p:nvSpPr>
        <p:spPr>
          <a:xfrm xmlns:a="http://schemas.openxmlformats.org/drawingml/2006/main">
            <a:off x="458152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Stable findings</a:t>
            </a:r>
          </a:p>
        </p:txBody>
      </p:sp>
      <p:sp>
        <p:nvSpPr>
          <p:cNvPr id="24" name="demo-dot-4">
            <a:extLst xmlns:a="http://schemas.openxmlformats.org/drawingml/2006/main">
              <a:ext uri="{FF2B5EF4-FFF2-40B4-BE49-F238E27FC236}">
                <a16:creationId xmlns:a16="http://schemas.microsoft.com/office/drawing/2014/main" id="{A542A88E-388C-414B-BBF4-D48A7E382670}"/>
              </a:ext>
            </a:extLst>
          </p:cNvPr>
          <p:cNvSpPr>
            <a:spLocks xmlns:a="http://schemas.openxmlformats.org/drawingml/2006/main" noGrp="1"/>
          </p:cNvSpPr>
          <p:nvPr/>
        </p:nvSpPr>
        <p:spPr>
          <a:xfrm xmlns:a="http://schemas.openxmlformats.org/drawingml/2006/main">
            <a:off x="6057900"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25" name="demo-n-4">
            <a:extLst xmlns:a="http://schemas.openxmlformats.org/drawingml/2006/main">
              <a:ext uri="{FF2B5EF4-FFF2-40B4-BE49-F238E27FC236}">
                <a16:creationId xmlns:a16="http://schemas.microsoft.com/office/drawing/2014/main" id="{75385CC7-8A98-43F7-96CB-70D5CE54AE9D}"/>
              </a:ext>
            </a:extLst>
          </p:cNvPr>
          <p:cNvSpPr>
            <a:spLocks xmlns:a="http://schemas.openxmlformats.org/drawingml/2006/main" noGrp="1"/>
          </p:cNvSpPr>
          <p:nvPr/>
        </p:nvSpPr>
        <p:spPr>
          <a:xfrm xmlns:a="http://schemas.openxmlformats.org/drawingml/2006/main">
            <a:off x="605790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5</a:t>
            </a:r>
          </a:p>
        </p:txBody>
      </p:sp>
      <p:sp>
        <p:nvSpPr>
          <p:cNvPr id="26" name="demo-title-4">
            <a:extLst xmlns:a="http://schemas.openxmlformats.org/drawingml/2006/main">
              <a:ext uri="{FF2B5EF4-FFF2-40B4-BE49-F238E27FC236}">
                <a16:creationId xmlns:a16="http://schemas.microsoft.com/office/drawing/2014/main" id="{55342AD6-2678-4102-A996-99EE1AE781E6}"/>
              </a:ext>
            </a:extLst>
          </p:cNvPr>
          <p:cNvSpPr>
            <a:spLocks xmlns:a="http://schemas.openxmlformats.org/drawingml/2006/main" noGrp="1"/>
          </p:cNvSpPr>
          <p:nvPr/>
        </p:nvSpPr>
        <p:spPr>
          <a:xfrm xmlns:a="http://schemas.openxmlformats.org/drawingml/2006/main">
            <a:off x="596265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Publish</a:t>
            </a:r>
          </a:p>
        </p:txBody>
      </p:sp>
      <p:sp>
        <p:nvSpPr>
          <p:cNvPr id="27" name="demo-sub-4">
            <a:extLst xmlns:a="http://schemas.openxmlformats.org/drawingml/2006/main">
              <a:ext uri="{FF2B5EF4-FFF2-40B4-BE49-F238E27FC236}">
                <a16:creationId xmlns:a16="http://schemas.microsoft.com/office/drawing/2014/main" id="{5926C3E3-34BF-4BC2-A6D7-FB084D0CDF0A}"/>
              </a:ext>
            </a:extLst>
          </p:cNvPr>
          <p:cNvSpPr>
            <a:spLocks xmlns:a="http://schemas.openxmlformats.org/drawingml/2006/main" noGrp="1"/>
          </p:cNvSpPr>
          <p:nvPr/>
        </p:nvSpPr>
        <p:spPr>
          <a:xfrm xmlns:a="http://schemas.openxmlformats.org/drawingml/2006/main">
            <a:off x="596265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Comments + summary</a:t>
            </a:r>
          </a:p>
        </p:txBody>
      </p:sp>
      <p:sp>
        <p:nvSpPr>
          <p:cNvPr id="28" name="demo-dot-5">
            <a:extLst xmlns:a="http://schemas.openxmlformats.org/drawingml/2006/main">
              <a:ext uri="{FF2B5EF4-FFF2-40B4-BE49-F238E27FC236}">
                <a16:creationId xmlns:a16="http://schemas.microsoft.com/office/drawing/2014/main" id="{D3858F19-99E8-4EBC-96E3-343D86EB76D1}"/>
              </a:ext>
            </a:extLst>
          </p:cNvPr>
          <p:cNvSpPr>
            <a:spLocks xmlns:a="http://schemas.openxmlformats.org/drawingml/2006/main" noGrp="1"/>
          </p:cNvSpPr>
          <p:nvPr/>
        </p:nvSpPr>
        <p:spPr>
          <a:xfrm xmlns:a="http://schemas.openxmlformats.org/drawingml/2006/main">
            <a:off x="7439025"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29" name="demo-n-5">
            <a:extLst xmlns:a="http://schemas.openxmlformats.org/drawingml/2006/main">
              <a:ext uri="{FF2B5EF4-FFF2-40B4-BE49-F238E27FC236}">
                <a16:creationId xmlns:a16="http://schemas.microsoft.com/office/drawing/2014/main" id="{4D55DD9A-2201-4A32-A85F-1DBCF5CBA1EB}"/>
              </a:ext>
            </a:extLst>
          </p:cNvPr>
          <p:cNvSpPr>
            <a:spLocks xmlns:a="http://schemas.openxmlformats.org/drawingml/2006/main" noGrp="1"/>
          </p:cNvSpPr>
          <p:nvPr/>
        </p:nvSpPr>
        <p:spPr>
          <a:xfrm xmlns:a="http://schemas.openxmlformats.org/drawingml/2006/main">
            <a:off x="743902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6</a:t>
            </a:r>
          </a:p>
        </p:txBody>
      </p:sp>
      <p:sp>
        <p:nvSpPr>
          <p:cNvPr id="30" name="demo-title-5">
            <a:extLst xmlns:a="http://schemas.openxmlformats.org/drawingml/2006/main">
              <a:ext uri="{FF2B5EF4-FFF2-40B4-BE49-F238E27FC236}">
                <a16:creationId xmlns:a16="http://schemas.microsoft.com/office/drawing/2014/main" id="{3EB36A8D-BB22-49CC-9458-1F3CDBCB70B5}"/>
              </a:ext>
            </a:extLst>
          </p:cNvPr>
          <p:cNvSpPr>
            <a:spLocks xmlns:a="http://schemas.openxmlformats.org/drawingml/2006/main" noGrp="1"/>
          </p:cNvSpPr>
          <p:nvPr/>
        </p:nvSpPr>
        <p:spPr>
          <a:xfrm xmlns:a="http://schemas.openxmlformats.org/drawingml/2006/main">
            <a:off x="734377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Decide</a:t>
            </a:r>
          </a:p>
        </p:txBody>
      </p:sp>
      <p:sp>
        <p:nvSpPr>
          <p:cNvPr id="31" name="demo-sub-5">
            <a:extLst xmlns:a="http://schemas.openxmlformats.org/drawingml/2006/main">
              <a:ext uri="{FF2B5EF4-FFF2-40B4-BE49-F238E27FC236}">
                <a16:creationId xmlns:a16="http://schemas.microsoft.com/office/drawing/2014/main" id="{115DF112-C170-458A-BC08-B03C804AF137}"/>
              </a:ext>
            </a:extLst>
          </p:cNvPr>
          <p:cNvSpPr>
            <a:spLocks xmlns:a="http://schemas.openxmlformats.org/drawingml/2006/main" noGrp="1"/>
          </p:cNvSpPr>
          <p:nvPr/>
        </p:nvSpPr>
        <p:spPr>
          <a:xfrm xmlns:a="http://schemas.openxmlformats.org/drawingml/2006/main">
            <a:off x="734377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Pending / blocked / allowed</a:t>
            </a:r>
          </a:p>
        </p:txBody>
      </p:sp>
      <p:sp>
        <p:nvSpPr>
          <p:cNvPr id="32" name="demo-dot-6">
            <a:extLst xmlns:a="http://schemas.openxmlformats.org/drawingml/2006/main">
              <a:ext uri="{FF2B5EF4-FFF2-40B4-BE49-F238E27FC236}">
                <a16:creationId xmlns:a16="http://schemas.microsoft.com/office/drawing/2014/main" id="{41B68527-8467-434E-A05E-0FE33F1E2536}"/>
              </a:ext>
            </a:extLst>
          </p:cNvPr>
          <p:cNvSpPr>
            <a:spLocks xmlns:a="http://schemas.openxmlformats.org/drawingml/2006/main" noGrp="1"/>
          </p:cNvSpPr>
          <p:nvPr/>
        </p:nvSpPr>
        <p:spPr>
          <a:xfrm xmlns:a="http://schemas.openxmlformats.org/drawingml/2006/main">
            <a:off x="8820150" y="2781300"/>
            <a:ext cx="323850" cy="323850"/>
          </a:xfrm>
          <a:prstGeom xmlns:a="http://schemas.openxmlformats.org/drawingml/2006/main" prst="roundRect">
            <a:avLst>
              <a:gd name="adj" fmla="val 50000"/>
            </a:avLst>
          </a:prstGeom>
          <a:solidFill xmlns:a="http://schemas.openxmlformats.org/drawingml/2006/main">
            <a:srgbClr val="101114"/>
          </a:solidFill>
          <a:ln xmlns:a="http://schemas.openxmlformats.org/drawingml/2006/main" w="0">
            <a:noFill/>
            <a:prstDash val="solid"/>
          </a:ln>
        </p:spPr>
      </p:sp>
      <p:sp>
        <p:nvSpPr>
          <p:cNvPr id="33" name="demo-n-6">
            <a:extLst xmlns:a="http://schemas.openxmlformats.org/drawingml/2006/main">
              <a:ext uri="{FF2B5EF4-FFF2-40B4-BE49-F238E27FC236}">
                <a16:creationId xmlns:a16="http://schemas.microsoft.com/office/drawing/2014/main" id="{384A1B82-417A-4F9B-9971-7D8D3C80CAE8}"/>
              </a:ext>
            </a:extLst>
          </p:cNvPr>
          <p:cNvSpPr>
            <a:spLocks xmlns:a="http://schemas.openxmlformats.org/drawingml/2006/main" noGrp="1"/>
          </p:cNvSpPr>
          <p:nvPr/>
        </p:nvSpPr>
        <p:spPr>
          <a:xfrm xmlns:a="http://schemas.openxmlformats.org/drawingml/2006/main">
            <a:off x="882015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7</a:t>
            </a:r>
          </a:p>
        </p:txBody>
      </p:sp>
      <p:sp>
        <p:nvSpPr>
          <p:cNvPr id="34" name="demo-title-6">
            <a:extLst xmlns:a="http://schemas.openxmlformats.org/drawingml/2006/main">
              <a:ext uri="{FF2B5EF4-FFF2-40B4-BE49-F238E27FC236}">
                <a16:creationId xmlns:a16="http://schemas.microsoft.com/office/drawing/2014/main" id="{F1D8D042-B359-40B8-B40F-6C2029217502}"/>
              </a:ext>
            </a:extLst>
          </p:cNvPr>
          <p:cNvSpPr>
            <a:spLocks xmlns:a="http://schemas.openxmlformats.org/drawingml/2006/main" noGrp="1"/>
          </p:cNvSpPr>
          <p:nvPr/>
        </p:nvSpPr>
        <p:spPr>
          <a:xfrm xmlns:a="http://schemas.openxmlformats.org/drawingml/2006/main">
            <a:off x="872490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Learn</a:t>
            </a:r>
          </a:p>
        </p:txBody>
      </p:sp>
      <p:sp>
        <p:nvSpPr>
          <p:cNvPr id="35" name="demo-sub-6">
            <a:extLst xmlns:a="http://schemas.openxmlformats.org/drawingml/2006/main">
              <a:ext uri="{FF2B5EF4-FFF2-40B4-BE49-F238E27FC236}">
                <a16:creationId xmlns:a16="http://schemas.microsoft.com/office/drawing/2014/main" id="{8937B829-E5C9-42EF-BFC3-8A10690BDEE5}"/>
              </a:ext>
            </a:extLst>
          </p:cNvPr>
          <p:cNvSpPr>
            <a:spLocks xmlns:a="http://schemas.openxmlformats.org/drawingml/2006/main" noGrp="1"/>
          </p:cNvSpPr>
          <p:nvPr/>
        </p:nvSpPr>
        <p:spPr>
          <a:xfrm xmlns:a="http://schemas.openxmlformats.org/drawingml/2006/main">
            <a:off x="872490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Reviewer feedback</a:t>
            </a:r>
          </a:p>
        </p:txBody>
      </p:sp>
      <p:sp>
        <p:nvSpPr>
          <p:cNvPr id="36" name="demo-dot-7">
            <a:extLst xmlns:a="http://schemas.openxmlformats.org/drawingml/2006/main">
              <a:ext uri="{FF2B5EF4-FFF2-40B4-BE49-F238E27FC236}">
                <a16:creationId xmlns:a16="http://schemas.microsoft.com/office/drawing/2014/main" id="{91814AC3-5B9B-4BB4-8532-B173D95D6498}"/>
              </a:ext>
            </a:extLst>
          </p:cNvPr>
          <p:cNvSpPr>
            <a:spLocks xmlns:a="http://schemas.openxmlformats.org/drawingml/2006/main" noGrp="1"/>
          </p:cNvSpPr>
          <p:nvPr/>
        </p:nvSpPr>
        <p:spPr>
          <a:xfrm xmlns:a="http://schemas.openxmlformats.org/drawingml/2006/main">
            <a:off x="10201275" y="2781300"/>
            <a:ext cx="323850" cy="3238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noFill/>
            <a:prstDash val="solid"/>
          </a:ln>
        </p:spPr>
      </p:sp>
      <p:sp>
        <p:nvSpPr>
          <p:cNvPr id="37" name="demo-n-7">
            <a:extLst xmlns:a="http://schemas.openxmlformats.org/drawingml/2006/main">
              <a:ext uri="{FF2B5EF4-FFF2-40B4-BE49-F238E27FC236}">
                <a16:creationId xmlns:a16="http://schemas.microsoft.com/office/drawing/2014/main" id="{897C3E9E-86A7-40D2-81A5-8474730AE643}"/>
              </a:ext>
            </a:extLst>
          </p:cNvPr>
          <p:cNvSpPr>
            <a:spLocks xmlns:a="http://schemas.openxmlformats.org/drawingml/2006/main" noGrp="1"/>
          </p:cNvSpPr>
          <p:nvPr/>
        </p:nvSpPr>
        <p:spPr>
          <a:xfrm xmlns:a="http://schemas.openxmlformats.org/drawingml/2006/main">
            <a:off x="1020127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8</a:t>
            </a:r>
          </a:p>
        </p:txBody>
      </p:sp>
      <p:sp>
        <p:nvSpPr>
          <p:cNvPr id="38" name="demo-title-7">
            <a:extLst xmlns:a="http://schemas.openxmlformats.org/drawingml/2006/main">
              <a:ext uri="{FF2B5EF4-FFF2-40B4-BE49-F238E27FC236}">
                <a16:creationId xmlns:a16="http://schemas.microsoft.com/office/drawing/2014/main" id="{56030FEE-7AF0-4C3B-A8BB-E283315D48FF}"/>
              </a:ext>
            </a:extLst>
          </p:cNvPr>
          <p:cNvSpPr>
            <a:spLocks xmlns:a="http://schemas.openxmlformats.org/drawingml/2006/main" noGrp="1"/>
          </p:cNvSpPr>
          <p:nvPr/>
        </p:nvSpPr>
        <p:spPr>
          <a:xfrm xmlns:a="http://schemas.openxmlformats.org/drawingml/2006/main">
            <a:off x="1010602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01114"/>
                </a:solidFill>
                <a:latin typeface="Helvetica Neue"/>
                <a:ea typeface="Helvetica Neue"/>
                <a:cs typeface="Helvetica Neue"/>
              </a:defRPr>
            </a:pPr>
            <a:r>
              <a:rPr sz="1350" b="1">
                <a:solidFill>
                  <a:srgbClr val="101114"/>
                </a:solidFill>
                <a:latin typeface="Helvetica Neue"/>
                <a:ea typeface="Helvetica Neue"/>
                <a:cs typeface="Helvetica Neue"/>
              </a:rPr>
              <a:t>Reconcile</a:t>
            </a:r>
          </a:p>
        </p:txBody>
      </p:sp>
      <p:sp>
        <p:nvSpPr>
          <p:cNvPr id="39" name="demo-sub-7">
            <a:extLst xmlns:a="http://schemas.openxmlformats.org/drawingml/2006/main">
              <a:ext uri="{FF2B5EF4-FFF2-40B4-BE49-F238E27FC236}">
                <a16:creationId xmlns:a16="http://schemas.microsoft.com/office/drawing/2014/main" id="{0C7B841B-D46D-485D-9133-1B8C90D62372}"/>
              </a:ext>
            </a:extLst>
          </p:cNvPr>
          <p:cNvSpPr>
            <a:spLocks xmlns:a="http://schemas.openxmlformats.org/drawingml/2006/main" noGrp="1"/>
          </p:cNvSpPr>
          <p:nvPr/>
        </p:nvSpPr>
        <p:spPr>
          <a:xfrm xmlns:a="http://schemas.openxmlformats.org/drawingml/2006/main">
            <a:off x="1010602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F6670"/>
                </a:solidFill>
                <a:latin typeface="Helvetica Neue"/>
                <a:ea typeface="Helvetica Neue"/>
                <a:cs typeface="Helvetica Neue"/>
              </a:defRPr>
            </a:pPr>
            <a:r>
              <a:rPr sz="1125" b="0">
                <a:solidFill>
                  <a:srgbClr val="5F6670"/>
                </a:solidFill>
                <a:latin typeface="Helvetica Neue"/>
                <a:ea typeface="Helvetica Neue"/>
                <a:cs typeface="Helvetica Neue"/>
              </a:rPr>
              <a:t>New commit, no duplicates</a:t>
            </a:r>
          </a:p>
        </p:txBody>
      </p:sp>
      <p:sp>
        <p:nvSpPr>
          <p:cNvPr id="40" name="demo-focus-bg">
            <a:extLst xmlns:a="http://schemas.openxmlformats.org/drawingml/2006/main">
              <a:ext uri="{FF2B5EF4-FFF2-40B4-BE49-F238E27FC236}">
                <a16:creationId xmlns:a16="http://schemas.microsoft.com/office/drawing/2014/main" id="{6B00B34C-DCFC-4AE4-BFDB-E069ED10D355}"/>
              </a:ext>
            </a:extLst>
          </p:cNvPr>
          <p:cNvSpPr>
            <a:spLocks xmlns:a="http://schemas.openxmlformats.org/drawingml/2006/main" noGrp="1"/>
          </p:cNvSpPr>
          <p:nvPr/>
        </p:nvSpPr>
        <p:spPr>
          <a:xfrm xmlns:a="http://schemas.openxmlformats.org/drawingml/2006/main">
            <a:off x="400050" y="4762500"/>
            <a:ext cx="11010900" cy="990600"/>
          </a:xfrm>
          <a:prstGeom xmlns:a="http://schemas.openxmlformats.org/drawingml/2006/main" prst="rect">
            <a:avLst/>
          </a:prstGeom>
          <a:solidFill xmlns:a="http://schemas.openxmlformats.org/drawingml/2006/main">
            <a:srgbClr val="E7F5FC"/>
          </a:solidFill>
          <a:ln xmlns:a="http://schemas.openxmlformats.org/drawingml/2006/main" w="0">
            <a:noFill/>
            <a:prstDash val="solid"/>
          </a:ln>
        </p:spPr>
      </p:sp>
      <p:sp>
        <p:nvSpPr>
          <p:cNvPr id="41" name="demo-focus-label">
            <a:extLst xmlns:a="http://schemas.openxmlformats.org/drawingml/2006/main">
              <a:ext uri="{FF2B5EF4-FFF2-40B4-BE49-F238E27FC236}">
                <a16:creationId xmlns:a16="http://schemas.microsoft.com/office/drawing/2014/main" id="{28E00A32-A500-4509-9B9E-39F1F7EC90C2}"/>
              </a:ext>
            </a:extLst>
          </p:cNvPr>
          <p:cNvSpPr>
            <a:spLocks xmlns:a="http://schemas.openxmlformats.org/drawingml/2006/main" noGrp="1"/>
          </p:cNvSpPr>
          <p:nvPr/>
        </p:nvSpPr>
        <p:spPr>
          <a:xfrm xmlns:a="http://schemas.openxmlformats.org/drawingml/2006/main">
            <a:off x="628650" y="49911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SHOW, DON’T TELL</a:t>
            </a:r>
          </a:p>
        </p:txBody>
      </p:sp>
      <p:sp>
        <p:nvSpPr>
          <p:cNvPr id="42" name="demo-focus">
            <a:extLst xmlns:a="http://schemas.openxmlformats.org/drawingml/2006/main">
              <a:ext uri="{FF2B5EF4-FFF2-40B4-BE49-F238E27FC236}">
                <a16:creationId xmlns:a16="http://schemas.microsoft.com/office/drawing/2014/main" id="{31274E70-2B0F-4976-B04F-38E4A5CD2F7D}"/>
              </a:ext>
            </a:extLst>
          </p:cNvPr>
          <p:cNvSpPr>
            <a:spLocks xmlns:a="http://schemas.openxmlformats.org/drawingml/2006/main" noGrp="1"/>
          </p:cNvSpPr>
          <p:nvPr/>
        </p:nvSpPr>
        <p:spPr>
          <a:xfrm xmlns:a="http://schemas.openxmlformats.org/drawingml/2006/main">
            <a:off x="628650" y="53149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01114"/>
                </a:solidFill>
                <a:latin typeface="Helvetica Neue"/>
                <a:ea typeface="Helvetica Neue"/>
                <a:cs typeface="Helvetica Neue"/>
              </a:defRPr>
            </a:pPr>
            <a:r>
              <a:rPr sz="1350" b="0">
                <a:solidFill>
                  <a:srgbClr val="101114"/>
                </a:solidFill>
                <a:latin typeface="Helvetica Neue"/>
                <a:ea typeface="Helvetica Neue"/>
                <a:cs typeface="Helvetica Neue"/>
              </a:rPr>
              <a:t>One code-quality finding · one test gap · one CVE/compliance signal · one issue resolved on the next commit · zero duplicate comments</a:t>
            </a:r>
          </a:p>
        </p:txBody>
      </p:sp>
    </p:spTree>
    <p:extLst>
      <p:ext uri="{BB962C8B-B14F-4D97-AF65-F5344CB8AC3E}">
        <p14:creationId xmlns:p14="http://schemas.microsoft.com/office/powerpoint/2010/main" val="12475526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ose-eyebrow">
            <a:extLst xmlns:a="http://schemas.openxmlformats.org/drawingml/2006/main">
              <a:ext uri="{FF2B5EF4-FFF2-40B4-BE49-F238E27FC236}">
                <a16:creationId xmlns:a16="http://schemas.microsoft.com/office/drawing/2014/main" id="{03063D50-21E6-4252-A889-0F1A021AE0C0}"/>
              </a:ext>
            </a:extLst>
          </p:cNvPr>
          <p:cNvSpPr>
            <a:spLocks xmlns:a="http://schemas.openxmlformats.org/drawingml/2006/main" noGrp="1"/>
          </p:cNvSpPr>
          <p:nvPr/>
        </p:nvSpPr>
        <p:spPr>
          <a:xfrm xmlns:a="http://schemas.openxmlformats.org/drawingml/2006/main">
            <a:off x="495300" y="495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F6670"/>
                </a:solidFill>
                <a:latin typeface="Helvetica Neue"/>
                <a:ea typeface="Helvetica Neue"/>
                <a:cs typeface="Helvetica Neue"/>
              </a:defRPr>
            </a:pPr>
            <a:r>
              <a:rPr sz="1275" b="1">
                <a:solidFill>
                  <a:srgbClr val="5F6670"/>
                </a:solidFill>
                <a:latin typeface="Helvetica Neue"/>
                <a:ea typeface="Helvetica Neue"/>
                <a:cs typeface="Helvetica Neue"/>
              </a:rPr>
              <a:t>LEADERSHIP DECISION</a:t>
            </a:r>
          </a:p>
        </p:txBody>
      </p:sp>
      <p:sp>
        <p:nvSpPr>
          <p:cNvPr id="2" name="close-title">
            <a:extLst xmlns:a="http://schemas.openxmlformats.org/drawingml/2006/main">
              <a:ext uri="{FF2B5EF4-FFF2-40B4-BE49-F238E27FC236}">
                <a16:creationId xmlns:a16="http://schemas.microsoft.com/office/drawing/2014/main" id="{B03E8A89-DF10-4570-9219-EFCCC5DED99F}"/>
              </a:ext>
            </a:extLst>
          </p:cNvPr>
          <p:cNvSpPr>
            <a:spLocks xmlns:a="http://schemas.openxmlformats.org/drawingml/2006/main" noGrp="1"/>
          </p:cNvSpPr>
          <p:nvPr/>
        </p:nvSpPr>
        <p:spPr>
          <a:xfrm xmlns:a="http://schemas.openxmlformats.org/drawingml/2006/main">
            <a:off x="495300" y="1771650"/>
            <a:ext cx="990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0">
                <a:solidFill>
                  <a:srgbClr val="101114"/>
                </a:solidFill>
                <a:latin typeface="Helvetica Neue"/>
                <a:ea typeface="Helvetica Neue"/>
                <a:cs typeface="Helvetica Neue"/>
              </a:defRPr>
            </a:pPr>
            <a:r>
              <a:rPr sz="3900" b="0">
                <a:solidFill>
                  <a:srgbClr val="101114"/>
                </a:solidFill>
                <a:latin typeface="Helvetica Neue"/>
                <a:ea typeface="Helvetica Neue"/>
                <a:cs typeface="Helvetica Neue"/>
              </a:rPr>
              <a:t>Sponsor a controlled pilot—not a transfer of engineering accountability</a:t>
            </a:r>
          </a:p>
        </p:txBody>
      </p:sp>
      <p:sp>
        <p:nvSpPr>
          <p:cNvPr id="3" name="close-accent">
            <a:extLst xmlns:a="http://schemas.openxmlformats.org/drawingml/2006/main">
              <a:ext uri="{FF2B5EF4-FFF2-40B4-BE49-F238E27FC236}">
                <a16:creationId xmlns:a16="http://schemas.microsoft.com/office/drawing/2014/main" id="{4B15F0AD-8048-40B0-B48B-DE3D48FE1158}"/>
              </a:ext>
            </a:extLst>
          </p:cNvPr>
          <p:cNvSpPr>
            <a:spLocks xmlns:a="http://schemas.openxmlformats.org/drawingml/2006/main" noGrp="1"/>
          </p:cNvSpPr>
          <p:nvPr/>
        </p:nvSpPr>
        <p:spPr>
          <a:xfrm xmlns:a="http://schemas.openxmlformats.org/drawingml/2006/main">
            <a:off x="495300" y="3867150"/>
            <a:ext cx="12573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close-body">
            <a:extLst xmlns:a="http://schemas.openxmlformats.org/drawingml/2006/main">
              <a:ext uri="{FF2B5EF4-FFF2-40B4-BE49-F238E27FC236}">
                <a16:creationId xmlns:a16="http://schemas.microsoft.com/office/drawing/2014/main" id="{50041AC3-1078-43A9-8CA5-1F1DC32C1C2B}"/>
              </a:ext>
            </a:extLst>
          </p:cNvPr>
          <p:cNvSpPr>
            <a:spLocks xmlns:a="http://schemas.openxmlformats.org/drawingml/2006/main" noGrp="1"/>
          </p:cNvSpPr>
          <p:nvPr/>
        </p:nvSpPr>
        <p:spPr>
          <a:xfrm xmlns:a="http://schemas.openxmlformats.org/drawingml/2006/main">
            <a:off x="495300" y="4362450"/>
            <a:ext cx="9810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1114"/>
                </a:solidFill>
                <a:latin typeface="Helvetica Neue"/>
                <a:ea typeface="Helvetica Neue"/>
                <a:cs typeface="Helvetica Neue"/>
              </a:defRPr>
            </a:pPr>
            <a:r>
              <a:rPr sz="1800" b="0">
                <a:solidFill>
                  <a:srgbClr val="101114"/>
                </a:solidFill>
                <a:latin typeface="Helvetica Neue"/>
                <a:ea typeface="Helvetica Neue"/>
                <a:cs typeface="Helvetica Neue"/>
              </a:rPr>
              <a:t>Confirm product ownership · involve Security and AI Governance · approve service authentication and AI Factory integration · nominate representative engineering teams</a:t>
            </a:r>
          </a:p>
        </p:txBody>
      </p:sp>
      <p:sp>
        <p:nvSpPr>
          <p:cNvPr id="5" name="close-foot">
            <a:extLst xmlns:a="http://schemas.openxmlformats.org/drawingml/2006/main">
              <a:ext uri="{FF2B5EF4-FFF2-40B4-BE49-F238E27FC236}">
                <a16:creationId xmlns:a16="http://schemas.microsoft.com/office/drawing/2014/main" id="{FF2EE4D5-7B1B-4CCD-972A-BAAF95E07661}"/>
              </a:ext>
            </a:extLst>
          </p:cNvPr>
          <p:cNvSpPr>
            <a:spLocks xmlns:a="http://schemas.openxmlformats.org/drawingml/2006/main" noGrp="1"/>
          </p:cNvSpPr>
          <p:nvPr/>
        </p:nvSpPr>
        <p:spPr>
          <a:xfrm xmlns:a="http://schemas.openxmlformats.org/drawingml/2006/main">
            <a:off x="495300" y="59626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F6670"/>
                </a:solidFill>
                <a:latin typeface="Helvetica Neue"/>
                <a:ea typeface="Helvetica Neue"/>
                <a:cs typeface="Helvetica Neue"/>
              </a:defRPr>
            </a:pPr>
            <a:r>
              <a:rPr sz="1275" b="0">
                <a:solidFill>
                  <a:srgbClr val="5F6670"/>
                </a:solidFill>
                <a:latin typeface="Helvetica Neue"/>
                <a:ea typeface="Helvetica Neue"/>
                <a:cs typeface="Helvetica Neue"/>
              </a:rPr>
              <a:t>Goal: earlier, more consistent and measurable review—while humans retain the final decision.</a:t>
            </a:r>
          </a:p>
        </p:txBody>
      </p:sp>
    </p:spTree>
    <p:extLst>
      <p:ext uri="{BB962C8B-B14F-4D97-AF65-F5344CB8AC3E}">
        <p14:creationId xmlns:p14="http://schemas.microsoft.com/office/powerpoint/2010/main" val="17905911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1">
            <a:extLst xmlns:a="http://schemas.openxmlformats.org/drawingml/2006/main">
              <a:ext uri="{FF2B5EF4-FFF2-40B4-BE49-F238E27FC236}">
                <a16:creationId xmlns:a16="http://schemas.microsoft.com/office/drawing/2014/main" id="{B9706F7A-DABD-4242-B8B8-AECD4DC9FA5C}"/>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1">
            <a:extLst xmlns:a="http://schemas.openxmlformats.org/drawingml/2006/main">
              <a:ext uri="{FF2B5EF4-FFF2-40B4-BE49-F238E27FC236}">
                <a16:creationId xmlns:a16="http://schemas.microsoft.com/office/drawing/2014/main" id="{E127324B-BE02-4B9A-9A01-1ABA25069847}"/>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Business case &amp; human accountability</a:t>
            </a:r>
          </a:p>
        </p:txBody>
      </p:sp>
      <p:sp>
        <p:nvSpPr>
          <p:cNvPr id="3" name="accent-11">
            <a:extLst xmlns:a="http://schemas.openxmlformats.org/drawingml/2006/main">
              <a:ext uri="{FF2B5EF4-FFF2-40B4-BE49-F238E27FC236}">
                <a16:creationId xmlns:a16="http://schemas.microsoft.com/office/drawing/2014/main" id="{423804DE-EEDF-4EFB-8E29-70AE1F54C2A3}"/>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1">
            <a:extLst xmlns:a="http://schemas.openxmlformats.org/drawingml/2006/main">
              <a:ext uri="{FF2B5EF4-FFF2-40B4-BE49-F238E27FC236}">
                <a16:creationId xmlns:a16="http://schemas.microsoft.com/office/drawing/2014/main" id="{FD9D6ECD-D966-4F8A-9034-7CE28B49B78D}"/>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11</a:t>
            </a:r>
          </a:p>
        </p:txBody>
      </p:sp>
      <p:sp>
        <p:nvSpPr>
          <p:cNvPr id="5" name="q-num-1">
            <a:extLst xmlns:a="http://schemas.openxmlformats.org/drawingml/2006/main">
              <a:ext uri="{FF2B5EF4-FFF2-40B4-BE49-F238E27FC236}">
                <a16:creationId xmlns:a16="http://schemas.microsoft.com/office/drawing/2014/main" id="{86BA7A76-7496-41F9-8735-69FDCB34C8B9}"/>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01</a:t>
            </a:r>
          </a:p>
        </p:txBody>
      </p:sp>
      <p:sp>
        <p:nvSpPr>
          <p:cNvPr id="6" name="q-text-1">
            <a:extLst xmlns:a="http://schemas.openxmlformats.org/drawingml/2006/main">
              <a:ext uri="{FF2B5EF4-FFF2-40B4-BE49-F238E27FC236}">
                <a16:creationId xmlns:a16="http://schemas.microsoft.com/office/drawing/2014/main" id="{C6A14E6B-0ED9-4AD5-B324-95412658FDD8}"/>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business problem are we solving?</a:t>
            </a:r>
          </a:p>
        </p:txBody>
      </p:sp>
      <p:sp>
        <p:nvSpPr>
          <p:cNvPr id="7" name="q-rule-1">
            <a:extLst xmlns:a="http://schemas.openxmlformats.org/drawingml/2006/main">
              <a:ext uri="{FF2B5EF4-FFF2-40B4-BE49-F238E27FC236}">
                <a16:creationId xmlns:a16="http://schemas.microsoft.com/office/drawing/2014/main" id="{79B1E1C4-4B67-4A90-8B2A-D07C5F6F2DEA}"/>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2">
            <a:extLst xmlns:a="http://schemas.openxmlformats.org/drawingml/2006/main">
              <a:ext uri="{FF2B5EF4-FFF2-40B4-BE49-F238E27FC236}">
                <a16:creationId xmlns:a16="http://schemas.microsoft.com/office/drawing/2014/main" id="{C1872C42-A1A1-4DC8-B806-9D28CF26D124}"/>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02</a:t>
            </a:r>
          </a:p>
        </p:txBody>
      </p:sp>
      <p:sp>
        <p:nvSpPr>
          <p:cNvPr id="9" name="q-text-2">
            <a:extLst xmlns:a="http://schemas.openxmlformats.org/drawingml/2006/main">
              <a:ext uri="{FF2B5EF4-FFF2-40B4-BE49-F238E27FC236}">
                <a16:creationId xmlns:a16="http://schemas.microsoft.com/office/drawing/2014/main" id="{A801CCD6-9A57-4DE1-AC1D-CEE0C0C0FC06}"/>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Is the agent replacing human code reviewers?</a:t>
            </a:r>
          </a:p>
        </p:txBody>
      </p:sp>
      <p:sp>
        <p:nvSpPr>
          <p:cNvPr id="10" name="q-rule-2">
            <a:extLst xmlns:a="http://schemas.openxmlformats.org/drawingml/2006/main">
              <a:ext uri="{FF2B5EF4-FFF2-40B4-BE49-F238E27FC236}">
                <a16:creationId xmlns:a16="http://schemas.microsoft.com/office/drawing/2014/main" id="{832796A0-1C95-4E2E-B648-0CDDB45B45F6}"/>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3">
            <a:extLst xmlns:a="http://schemas.openxmlformats.org/drawingml/2006/main">
              <a:ext uri="{FF2B5EF4-FFF2-40B4-BE49-F238E27FC236}">
                <a16:creationId xmlns:a16="http://schemas.microsoft.com/office/drawing/2014/main" id="{BB883730-3EF4-47C3-BBEE-C00A6864B480}"/>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03</a:t>
            </a:r>
          </a:p>
        </p:txBody>
      </p:sp>
      <p:sp>
        <p:nvSpPr>
          <p:cNvPr id="12" name="q-text-3">
            <a:extLst xmlns:a="http://schemas.openxmlformats.org/drawingml/2006/main">
              <a:ext uri="{FF2B5EF4-FFF2-40B4-BE49-F238E27FC236}">
                <a16:creationId xmlns:a16="http://schemas.microsoft.com/office/drawing/2014/main" id="{01349F20-61C3-434B-B226-11654CF3103A}"/>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Why is human approval still required?</a:t>
            </a:r>
          </a:p>
        </p:txBody>
      </p:sp>
      <p:sp>
        <p:nvSpPr>
          <p:cNvPr id="13" name="q-rule-3">
            <a:extLst xmlns:a="http://schemas.openxmlformats.org/drawingml/2006/main">
              <a:ext uri="{FF2B5EF4-FFF2-40B4-BE49-F238E27FC236}">
                <a16:creationId xmlns:a16="http://schemas.microsoft.com/office/drawing/2014/main" id="{BC5F70FC-B741-4422-9B22-A178732BF14B}"/>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4">
            <a:extLst xmlns:a="http://schemas.openxmlformats.org/drawingml/2006/main">
              <a:ext uri="{FF2B5EF4-FFF2-40B4-BE49-F238E27FC236}">
                <a16:creationId xmlns:a16="http://schemas.microsoft.com/office/drawing/2014/main" id="{DCF2C032-4565-4572-AD05-5BA749657BDB}"/>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04</a:t>
            </a:r>
          </a:p>
        </p:txBody>
      </p:sp>
      <p:sp>
        <p:nvSpPr>
          <p:cNvPr id="15" name="q-text-4">
            <a:extLst xmlns:a="http://schemas.openxmlformats.org/drawingml/2006/main">
              <a:ext uri="{FF2B5EF4-FFF2-40B4-BE49-F238E27FC236}">
                <a16:creationId xmlns:a16="http://schemas.microsoft.com/office/drawing/2014/main" id="{EF249DB3-885B-43B8-B315-CC174B4FDABE}"/>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evidence do we have that the approach creates value?</a:t>
            </a:r>
          </a:p>
        </p:txBody>
      </p:sp>
      <p:sp>
        <p:nvSpPr>
          <p:cNvPr id="16" name="q-rule-4">
            <a:extLst xmlns:a="http://schemas.openxmlformats.org/drawingml/2006/main">
              <a:ext uri="{FF2B5EF4-FFF2-40B4-BE49-F238E27FC236}">
                <a16:creationId xmlns:a16="http://schemas.microsoft.com/office/drawing/2014/main" id="{342916C4-4A31-47A0-B7D9-D3CD8F402A99}"/>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5">
            <a:extLst xmlns:a="http://schemas.openxmlformats.org/drawingml/2006/main">
              <a:ext uri="{FF2B5EF4-FFF2-40B4-BE49-F238E27FC236}">
                <a16:creationId xmlns:a16="http://schemas.microsoft.com/office/drawing/2014/main" id="{2F816E37-5BC9-4EBA-A83F-7281E743F3B0}"/>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05</a:t>
            </a:r>
          </a:p>
        </p:txBody>
      </p:sp>
      <p:sp>
        <p:nvSpPr>
          <p:cNvPr id="18" name="q-text-5">
            <a:extLst xmlns:a="http://schemas.openxmlformats.org/drawingml/2006/main">
              <a:ext uri="{FF2B5EF4-FFF2-40B4-BE49-F238E27FC236}">
                <a16:creationId xmlns:a16="http://schemas.microsoft.com/office/drawing/2014/main" id="{34D098B0-08A3-4A34-8C7D-98012E470A7F}"/>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Why not continue using the existing implementation?</a:t>
            </a:r>
          </a:p>
        </p:txBody>
      </p:sp>
    </p:spTree>
    <p:extLst>
      <p:ext uri="{BB962C8B-B14F-4D97-AF65-F5344CB8AC3E}">
        <p14:creationId xmlns:p14="http://schemas.microsoft.com/office/powerpoint/2010/main" val="2084345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2">
            <a:extLst xmlns:a="http://schemas.openxmlformats.org/drawingml/2006/main">
              <a:ext uri="{FF2B5EF4-FFF2-40B4-BE49-F238E27FC236}">
                <a16:creationId xmlns:a16="http://schemas.microsoft.com/office/drawing/2014/main" id="{DECF5542-5B7C-42C0-952F-75B61E21D376}"/>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2">
            <a:extLst xmlns:a="http://schemas.openxmlformats.org/drawingml/2006/main">
              <a:ext uri="{FF2B5EF4-FFF2-40B4-BE49-F238E27FC236}">
                <a16:creationId xmlns:a16="http://schemas.microsoft.com/office/drawing/2014/main" id="{3C861BF4-AC0C-4F4B-9091-2AD7CD910CC1}"/>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Product and platform choices</a:t>
            </a:r>
          </a:p>
        </p:txBody>
      </p:sp>
      <p:sp>
        <p:nvSpPr>
          <p:cNvPr id="3" name="accent-12">
            <a:extLst xmlns:a="http://schemas.openxmlformats.org/drawingml/2006/main">
              <a:ext uri="{FF2B5EF4-FFF2-40B4-BE49-F238E27FC236}">
                <a16:creationId xmlns:a16="http://schemas.microsoft.com/office/drawing/2014/main" id="{4187C102-DFE3-4B28-9822-79826A5E2A8C}"/>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2">
            <a:extLst xmlns:a="http://schemas.openxmlformats.org/drawingml/2006/main">
              <a:ext uri="{FF2B5EF4-FFF2-40B4-BE49-F238E27FC236}">
                <a16:creationId xmlns:a16="http://schemas.microsoft.com/office/drawing/2014/main" id="{75C593BD-2033-4D2D-A5C4-AEAE516DD68E}"/>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12</a:t>
            </a:r>
          </a:p>
        </p:txBody>
      </p:sp>
      <p:sp>
        <p:nvSpPr>
          <p:cNvPr id="5" name="q-num-6">
            <a:extLst xmlns:a="http://schemas.openxmlformats.org/drawingml/2006/main">
              <a:ext uri="{FF2B5EF4-FFF2-40B4-BE49-F238E27FC236}">
                <a16:creationId xmlns:a16="http://schemas.microsoft.com/office/drawing/2014/main" id="{4F0DFCDE-C731-427A-A54B-4DD2A62DDF4D}"/>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06</a:t>
            </a:r>
          </a:p>
        </p:txBody>
      </p:sp>
      <p:sp>
        <p:nvSpPr>
          <p:cNvPr id="6" name="q-text-6">
            <a:extLst xmlns:a="http://schemas.openxmlformats.org/drawingml/2006/main">
              <a:ext uri="{FF2B5EF4-FFF2-40B4-BE49-F238E27FC236}">
                <a16:creationId xmlns:a16="http://schemas.microsoft.com/office/drawing/2014/main" id="{F863BF86-3865-4F44-A772-B5A0EA89D426}"/>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Why use a CLI rather than a centrally hosted service?</a:t>
            </a:r>
          </a:p>
        </p:txBody>
      </p:sp>
      <p:sp>
        <p:nvSpPr>
          <p:cNvPr id="7" name="q-rule-6">
            <a:extLst xmlns:a="http://schemas.openxmlformats.org/drawingml/2006/main">
              <a:ext uri="{FF2B5EF4-FFF2-40B4-BE49-F238E27FC236}">
                <a16:creationId xmlns:a16="http://schemas.microsoft.com/office/drawing/2014/main" id="{732F3ABF-B661-4E94-8150-3AE47DA8FF88}"/>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7">
            <a:extLst xmlns:a="http://schemas.openxmlformats.org/drawingml/2006/main">
              <a:ext uri="{FF2B5EF4-FFF2-40B4-BE49-F238E27FC236}">
                <a16:creationId xmlns:a16="http://schemas.microsoft.com/office/drawing/2014/main" id="{0AD70AA4-EF61-420F-A091-F157137072FB}"/>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07</a:t>
            </a:r>
          </a:p>
        </p:txBody>
      </p:sp>
      <p:sp>
        <p:nvSpPr>
          <p:cNvPr id="9" name="q-text-7">
            <a:extLst xmlns:a="http://schemas.openxmlformats.org/drawingml/2006/main">
              <a:ext uri="{FF2B5EF4-FFF2-40B4-BE49-F238E27FC236}">
                <a16:creationId xmlns:a16="http://schemas.microsoft.com/office/drawing/2014/main" id="{EB3B5C2E-8FF3-490D-8A4C-F36AB8F174D4}"/>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Will a CLI create inconsistent versions across teams?</a:t>
            </a:r>
          </a:p>
        </p:txBody>
      </p:sp>
      <p:sp>
        <p:nvSpPr>
          <p:cNvPr id="10" name="q-rule-7">
            <a:extLst xmlns:a="http://schemas.openxmlformats.org/drawingml/2006/main">
              <a:ext uri="{FF2B5EF4-FFF2-40B4-BE49-F238E27FC236}">
                <a16:creationId xmlns:a16="http://schemas.microsoft.com/office/drawing/2014/main" id="{31AB739A-C523-406A-81F8-7706C3860967}"/>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8">
            <a:extLst xmlns:a="http://schemas.openxmlformats.org/drawingml/2006/main">
              <a:ext uri="{FF2B5EF4-FFF2-40B4-BE49-F238E27FC236}">
                <a16:creationId xmlns:a16="http://schemas.microsoft.com/office/drawing/2014/main" id="{094AF7D9-D22D-4494-B948-E868CA464629}"/>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08</a:t>
            </a:r>
          </a:p>
        </p:txBody>
      </p:sp>
      <p:sp>
        <p:nvSpPr>
          <p:cNvPr id="12" name="q-text-8">
            <a:extLst xmlns:a="http://schemas.openxmlformats.org/drawingml/2006/main">
              <a:ext uri="{FF2B5EF4-FFF2-40B4-BE49-F238E27FC236}">
                <a16:creationId xmlns:a16="http://schemas.microsoft.com/office/drawing/2014/main" id="{3460873B-1038-4A2D-B2F1-FB13BF66DEA9}"/>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Why use an open-source review engine?</a:t>
            </a:r>
          </a:p>
        </p:txBody>
      </p:sp>
      <p:sp>
        <p:nvSpPr>
          <p:cNvPr id="13" name="q-rule-8">
            <a:extLst xmlns:a="http://schemas.openxmlformats.org/drawingml/2006/main">
              <a:ext uri="{FF2B5EF4-FFF2-40B4-BE49-F238E27FC236}">
                <a16:creationId xmlns:a16="http://schemas.microsoft.com/office/drawing/2014/main" id="{15E29795-5202-441C-B728-E8983900FA68}"/>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9">
            <a:extLst xmlns:a="http://schemas.openxmlformats.org/drawingml/2006/main">
              <a:ext uri="{FF2B5EF4-FFF2-40B4-BE49-F238E27FC236}">
                <a16:creationId xmlns:a16="http://schemas.microsoft.com/office/drawing/2014/main" id="{56C45F4D-93B7-405C-9EF9-A4588C44788B}"/>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09</a:t>
            </a:r>
          </a:p>
        </p:txBody>
      </p:sp>
      <p:sp>
        <p:nvSpPr>
          <p:cNvPr id="15" name="q-text-9">
            <a:extLst xmlns:a="http://schemas.openxmlformats.org/drawingml/2006/main">
              <a:ext uri="{FF2B5EF4-FFF2-40B4-BE49-F238E27FC236}">
                <a16:creationId xmlns:a16="http://schemas.microsoft.com/office/drawing/2014/main" id="{D4B678DF-DC70-4C14-80FB-25B523C0804B}"/>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happens if the open-source project is abandoned?</a:t>
            </a:r>
          </a:p>
        </p:txBody>
      </p:sp>
      <p:sp>
        <p:nvSpPr>
          <p:cNvPr id="16" name="q-rule-9">
            <a:extLst xmlns:a="http://schemas.openxmlformats.org/drawingml/2006/main">
              <a:ext uri="{FF2B5EF4-FFF2-40B4-BE49-F238E27FC236}">
                <a16:creationId xmlns:a16="http://schemas.microsoft.com/office/drawing/2014/main" id="{F2B0E1CC-0C75-436A-8FB9-3D6D15CB6F2A}"/>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10">
            <a:extLst xmlns:a="http://schemas.openxmlformats.org/drawingml/2006/main">
              <a:ext uri="{FF2B5EF4-FFF2-40B4-BE49-F238E27FC236}">
                <a16:creationId xmlns:a16="http://schemas.microsoft.com/office/drawing/2014/main" id="{9EF64F30-37E2-473C-8542-089675815189}"/>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10</a:t>
            </a:r>
          </a:p>
        </p:txBody>
      </p:sp>
      <p:sp>
        <p:nvSpPr>
          <p:cNvPr id="18" name="q-text-10">
            <a:extLst xmlns:a="http://schemas.openxmlformats.org/drawingml/2006/main">
              <a:ext uri="{FF2B5EF4-FFF2-40B4-BE49-F238E27FC236}">
                <a16:creationId xmlns:a16="http://schemas.microsoft.com/office/drawing/2014/main" id="{47EE1665-C571-460F-96F4-F127A055D8A2}"/>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is this different from SonarQube or existing static-analysis tools?</a:t>
            </a:r>
          </a:p>
        </p:txBody>
      </p:sp>
    </p:spTree>
    <p:extLst>
      <p:ext uri="{BB962C8B-B14F-4D97-AF65-F5344CB8AC3E}">
        <p14:creationId xmlns:p14="http://schemas.microsoft.com/office/powerpoint/2010/main" val="855652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3">
            <a:extLst xmlns:a="http://schemas.openxmlformats.org/drawingml/2006/main">
              <a:ext uri="{FF2B5EF4-FFF2-40B4-BE49-F238E27FC236}">
                <a16:creationId xmlns:a16="http://schemas.microsoft.com/office/drawing/2014/main" id="{9202A964-7D2B-4A4D-84E9-3B11A54F2FD5}"/>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3">
            <a:extLst xmlns:a="http://schemas.openxmlformats.org/drawingml/2006/main">
              <a:ext uri="{FF2B5EF4-FFF2-40B4-BE49-F238E27FC236}">
                <a16:creationId xmlns:a16="http://schemas.microsoft.com/office/drawing/2014/main" id="{2F4356B3-055C-4732-BC5F-694BEEA517E5}"/>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Control model &amp; failure states</a:t>
            </a:r>
          </a:p>
        </p:txBody>
      </p:sp>
      <p:sp>
        <p:nvSpPr>
          <p:cNvPr id="3" name="accent-13">
            <a:extLst xmlns:a="http://schemas.openxmlformats.org/drawingml/2006/main">
              <a:ext uri="{FF2B5EF4-FFF2-40B4-BE49-F238E27FC236}">
                <a16:creationId xmlns:a16="http://schemas.microsoft.com/office/drawing/2014/main" id="{88819F39-F59C-42CD-8FE2-C52170EDBB0E}"/>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3">
            <a:extLst xmlns:a="http://schemas.openxmlformats.org/drawingml/2006/main">
              <a:ext uri="{FF2B5EF4-FFF2-40B4-BE49-F238E27FC236}">
                <a16:creationId xmlns:a16="http://schemas.microsoft.com/office/drawing/2014/main" id="{829BDBDD-5B9F-4A69-8216-63481D894626}"/>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13</a:t>
            </a:r>
          </a:p>
        </p:txBody>
      </p:sp>
      <p:sp>
        <p:nvSpPr>
          <p:cNvPr id="5" name="q-num-11">
            <a:extLst xmlns:a="http://schemas.openxmlformats.org/drawingml/2006/main">
              <a:ext uri="{FF2B5EF4-FFF2-40B4-BE49-F238E27FC236}">
                <a16:creationId xmlns:a16="http://schemas.microsoft.com/office/drawing/2014/main" id="{BFD52024-081C-40D9-9038-2CB091F917D1}"/>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11</a:t>
            </a:r>
          </a:p>
        </p:txBody>
      </p:sp>
      <p:sp>
        <p:nvSpPr>
          <p:cNvPr id="6" name="q-text-11">
            <a:extLst xmlns:a="http://schemas.openxmlformats.org/drawingml/2006/main">
              <a:ext uri="{FF2B5EF4-FFF2-40B4-BE49-F238E27FC236}">
                <a16:creationId xmlns:a16="http://schemas.microsoft.com/office/drawing/2014/main" id="{CD1BB2AB-3E96-45AE-94FE-E32EE61CBCEB}"/>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Are we duplicating controls already present in pipelines?</a:t>
            </a:r>
          </a:p>
        </p:txBody>
      </p:sp>
      <p:sp>
        <p:nvSpPr>
          <p:cNvPr id="7" name="q-rule-11">
            <a:extLst xmlns:a="http://schemas.openxmlformats.org/drawingml/2006/main">
              <a:ext uri="{FF2B5EF4-FFF2-40B4-BE49-F238E27FC236}">
                <a16:creationId xmlns:a16="http://schemas.microsoft.com/office/drawing/2014/main" id="{E6928F87-F05D-4E96-812C-E65B228781A1}"/>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12">
            <a:extLst xmlns:a="http://schemas.openxmlformats.org/drawingml/2006/main">
              <a:ext uri="{FF2B5EF4-FFF2-40B4-BE49-F238E27FC236}">
                <a16:creationId xmlns:a16="http://schemas.microsoft.com/office/drawing/2014/main" id="{E01BA248-C679-4A47-B54D-ED0FC678F434}"/>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12</a:t>
            </a:r>
          </a:p>
        </p:txBody>
      </p:sp>
      <p:sp>
        <p:nvSpPr>
          <p:cNvPr id="9" name="q-text-12">
            <a:extLst xmlns:a="http://schemas.openxmlformats.org/drawingml/2006/main">
              <a:ext uri="{FF2B5EF4-FFF2-40B4-BE49-F238E27FC236}">
                <a16:creationId xmlns:a16="http://schemas.microsoft.com/office/drawing/2014/main" id="{33B1F9D2-A07D-45D4-86FB-D20667951110}"/>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Can the agent block a release incorrectly?</a:t>
            </a:r>
          </a:p>
        </p:txBody>
      </p:sp>
      <p:sp>
        <p:nvSpPr>
          <p:cNvPr id="10" name="q-rule-12">
            <a:extLst xmlns:a="http://schemas.openxmlformats.org/drawingml/2006/main">
              <a:ext uri="{FF2B5EF4-FFF2-40B4-BE49-F238E27FC236}">
                <a16:creationId xmlns:a16="http://schemas.microsoft.com/office/drawing/2014/main" id="{91558D15-0064-4178-BF03-DBF1E43B9E9E}"/>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13">
            <a:extLst xmlns:a="http://schemas.openxmlformats.org/drawingml/2006/main">
              <a:ext uri="{FF2B5EF4-FFF2-40B4-BE49-F238E27FC236}">
                <a16:creationId xmlns:a16="http://schemas.microsoft.com/office/drawing/2014/main" id="{4D625B4E-2EC6-4031-B987-D748C7539EDB}"/>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13</a:t>
            </a:r>
          </a:p>
        </p:txBody>
      </p:sp>
      <p:sp>
        <p:nvSpPr>
          <p:cNvPr id="12" name="q-text-13">
            <a:extLst xmlns:a="http://schemas.openxmlformats.org/drawingml/2006/main">
              <a:ext uri="{FF2B5EF4-FFF2-40B4-BE49-F238E27FC236}">
                <a16:creationId xmlns:a16="http://schemas.microsoft.com/office/drawing/2014/main" id="{12E9B994-9E3E-45A0-B5FE-C6AE36EE220D}"/>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happens if the AI service or a scanner is unavailable?</a:t>
            </a:r>
          </a:p>
        </p:txBody>
      </p:sp>
      <p:sp>
        <p:nvSpPr>
          <p:cNvPr id="13" name="q-rule-13">
            <a:extLst xmlns:a="http://schemas.openxmlformats.org/drawingml/2006/main">
              <a:ext uri="{FF2B5EF4-FFF2-40B4-BE49-F238E27FC236}">
                <a16:creationId xmlns:a16="http://schemas.microsoft.com/office/drawing/2014/main" id="{EE68AA0C-F316-48F2-AED0-2FFA4076E48E}"/>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14">
            <a:extLst xmlns:a="http://schemas.openxmlformats.org/drawingml/2006/main">
              <a:ext uri="{FF2B5EF4-FFF2-40B4-BE49-F238E27FC236}">
                <a16:creationId xmlns:a16="http://schemas.microsoft.com/office/drawing/2014/main" id="{C4F1B902-763F-4B5B-AB1A-31D34A96B864}"/>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14</a:t>
            </a:r>
          </a:p>
        </p:txBody>
      </p:sp>
      <p:sp>
        <p:nvSpPr>
          <p:cNvPr id="15" name="q-text-14">
            <a:extLst xmlns:a="http://schemas.openxmlformats.org/drawingml/2006/main">
              <a:ext uri="{FF2B5EF4-FFF2-40B4-BE49-F238E27FC236}">
                <a16:creationId xmlns:a16="http://schemas.microsoft.com/office/drawing/2014/main" id="{541263DC-3DCF-4737-A917-1DC1F482ED55}"/>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Does “allowed” mean the code is safe?</a:t>
            </a:r>
          </a:p>
        </p:txBody>
      </p:sp>
      <p:sp>
        <p:nvSpPr>
          <p:cNvPr id="16" name="q-rule-14">
            <a:extLst xmlns:a="http://schemas.openxmlformats.org/drawingml/2006/main">
              <a:ext uri="{FF2B5EF4-FFF2-40B4-BE49-F238E27FC236}">
                <a16:creationId xmlns:a16="http://schemas.microsoft.com/office/drawing/2014/main" id="{50F2A449-E4F2-4601-A053-FCB85E8F4BA7}"/>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15">
            <a:extLst xmlns:a="http://schemas.openxmlformats.org/drawingml/2006/main">
              <a:ext uri="{FF2B5EF4-FFF2-40B4-BE49-F238E27FC236}">
                <a16:creationId xmlns:a16="http://schemas.microsoft.com/office/drawing/2014/main" id="{2DE902C7-CAB2-4B0A-993D-005AB7851EDF}"/>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15</a:t>
            </a:r>
          </a:p>
        </p:txBody>
      </p:sp>
      <p:sp>
        <p:nvSpPr>
          <p:cNvPr id="18" name="q-text-15">
            <a:extLst xmlns:a="http://schemas.openxmlformats.org/drawingml/2006/main">
              <a:ext uri="{FF2B5EF4-FFF2-40B4-BE49-F238E27FC236}">
                <a16:creationId xmlns:a16="http://schemas.microsoft.com/office/drawing/2014/main" id="{C640DC38-F7A7-4C28-9282-E2B01E5AE060}"/>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do we prevent hallucinated or low-quality findings?</a:t>
            </a:r>
          </a:p>
        </p:txBody>
      </p:sp>
    </p:spTree>
    <p:extLst>
      <p:ext uri="{BB962C8B-B14F-4D97-AF65-F5344CB8AC3E}">
        <p14:creationId xmlns:p14="http://schemas.microsoft.com/office/powerpoint/2010/main" val="5131237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4">
            <a:extLst xmlns:a="http://schemas.openxmlformats.org/drawingml/2006/main">
              <a:ext uri="{FF2B5EF4-FFF2-40B4-BE49-F238E27FC236}">
                <a16:creationId xmlns:a16="http://schemas.microsoft.com/office/drawing/2014/main" id="{0967BE48-E542-479B-8E1E-731CAA9B616A}"/>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4">
            <a:extLst xmlns:a="http://schemas.openxmlformats.org/drawingml/2006/main">
              <a:ext uri="{FF2B5EF4-FFF2-40B4-BE49-F238E27FC236}">
                <a16:creationId xmlns:a16="http://schemas.microsoft.com/office/drawing/2014/main" id="{1FED0D6D-AEAF-4A80-AA0A-486C45F8FBEB}"/>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Signal quality &amp; economics</a:t>
            </a:r>
          </a:p>
        </p:txBody>
      </p:sp>
      <p:sp>
        <p:nvSpPr>
          <p:cNvPr id="3" name="accent-14">
            <a:extLst xmlns:a="http://schemas.openxmlformats.org/drawingml/2006/main">
              <a:ext uri="{FF2B5EF4-FFF2-40B4-BE49-F238E27FC236}">
                <a16:creationId xmlns:a16="http://schemas.microsoft.com/office/drawing/2014/main" id="{6B1CDAA1-F1A7-474D-8C06-FAD9AC901728}"/>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4">
            <a:extLst xmlns:a="http://schemas.openxmlformats.org/drawingml/2006/main">
              <a:ext uri="{FF2B5EF4-FFF2-40B4-BE49-F238E27FC236}">
                <a16:creationId xmlns:a16="http://schemas.microsoft.com/office/drawing/2014/main" id="{58F88C60-7ACA-4C17-B68F-083F074463D9}"/>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14</a:t>
            </a:r>
          </a:p>
        </p:txBody>
      </p:sp>
      <p:sp>
        <p:nvSpPr>
          <p:cNvPr id="5" name="q-num-16">
            <a:extLst xmlns:a="http://schemas.openxmlformats.org/drawingml/2006/main">
              <a:ext uri="{FF2B5EF4-FFF2-40B4-BE49-F238E27FC236}">
                <a16:creationId xmlns:a16="http://schemas.microsoft.com/office/drawing/2014/main" id="{D5D9A8DB-DEF0-4D6C-A654-EED258E632B0}"/>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16</a:t>
            </a:r>
          </a:p>
        </p:txBody>
      </p:sp>
      <p:sp>
        <p:nvSpPr>
          <p:cNvPr id="6" name="q-text-16">
            <a:extLst xmlns:a="http://schemas.openxmlformats.org/drawingml/2006/main">
              <a:ext uri="{FF2B5EF4-FFF2-40B4-BE49-F238E27FC236}">
                <a16:creationId xmlns:a16="http://schemas.microsoft.com/office/drawing/2014/main" id="{DDB38B7C-BD7E-4C11-B472-BD12877E0145}"/>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do we prevent excessive comments from slowing developers down?</a:t>
            </a:r>
          </a:p>
        </p:txBody>
      </p:sp>
      <p:sp>
        <p:nvSpPr>
          <p:cNvPr id="7" name="q-rule-16">
            <a:extLst xmlns:a="http://schemas.openxmlformats.org/drawingml/2006/main">
              <a:ext uri="{FF2B5EF4-FFF2-40B4-BE49-F238E27FC236}">
                <a16:creationId xmlns:a16="http://schemas.microsoft.com/office/drawing/2014/main" id="{D9E9DB28-107E-455D-8B25-70223AA19A18}"/>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17">
            <a:extLst xmlns:a="http://schemas.openxmlformats.org/drawingml/2006/main">
              <a:ext uri="{FF2B5EF4-FFF2-40B4-BE49-F238E27FC236}">
                <a16:creationId xmlns:a16="http://schemas.microsoft.com/office/drawing/2014/main" id="{DA0F8669-61A5-4C83-B32A-0DE6F6AAC96F}"/>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17</a:t>
            </a:r>
          </a:p>
        </p:txBody>
      </p:sp>
      <p:sp>
        <p:nvSpPr>
          <p:cNvPr id="9" name="q-text-17">
            <a:extLst xmlns:a="http://schemas.openxmlformats.org/drawingml/2006/main">
              <a:ext uri="{FF2B5EF4-FFF2-40B4-BE49-F238E27FC236}">
                <a16:creationId xmlns:a16="http://schemas.microsoft.com/office/drawing/2014/main" id="{1D0B059F-7312-4CF0-B8C8-F4C8BA7401EF}"/>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will false positives be managed?</a:t>
            </a:r>
          </a:p>
        </p:txBody>
      </p:sp>
      <p:sp>
        <p:nvSpPr>
          <p:cNvPr id="10" name="q-rule-17">
            <a:extLst xmlns:a="http://schemas.openxmlformats.org/drawingml/2006/main">
              <a:ext uri="{FF2B5EF4-FFF2-40B4-BE49-F238E27FC236}">
                <a16:creationId xmlns:a16="http://schemas.microsoft.com/office/drawing/2014/main" id="{9C30D2BB-6D5B-40C7-AB45-E6AFBC2587B8}"/>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18">
            <a:extLst xmlns:a="http://schemas.openxmlformats.org/drawingml/2006/main">
              <a:ext uri="{FF2B5EF4-FFF2-40B4-BE49-F238E27FC236}">
                <a16:creationId xmlns:a16="http://schemas.microsoft.com/office/drawing/2014/main" id="{AD19E5B5-855B-4D96-A96B-40A151BEB8ED}"/>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18</a:t>
            </a:r>
          </a:p>
        </p:txBody>
      </p:sp>
      <p:sp>
        <p:nvSpPr>
          <p:cNvPr id="12" name="q-text-18">
            <a:extLst xmlns:a="http://schemas.openxmlformats.org/drawingml/2006/main">
              <a:ext uri="{FF2B5EF4-FFF2-40B4-BE49-F238E27FC236}">
                <a16:creationId xmlns:a16="http://schemas.microsoft.com/office/drawing/2014/main" id="{2E689300-70B8-450C-B1C2-8447833BA6CD}"/>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will we measure success?</a:t>
            </a:r>
          </a:p>
        </p:txBody>
      </p:sp>
      <p:sp>
        <p:nvSpPr>
          <p:cNvPr id="13" name="q-rule-18">
            <a:extLst xmlns:a="http://schemas.openxmlformats.org/drawingml/2006/main">
              <a:ext uri="{FF2B5EF4-FFF2-40B4-BE49-F238E27FC236}">
                <a16:creationId xmlns:a16="http://schemas.microsoft.com/office/drawing/2014/main" id="{CAC6C9C6-8D77-4733-82D6-3E9FB36FA053}"/>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19">
            <a:extLst xmlns:a="http://schemas.openxmlformats.org/drawingml/2006/main">
              <a:ext uri="{FF2B5EF4-FFF2-40B4-BE49-F238E27FC236}">
                <a16:creationId xmlns:a16="http://schemas.microsoft.com/office/drawing/2014/main" id="{1504C4FC-4970-4B93-AE8B-D35E254F025C}"/>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19</a:t>
            </a:r>
          </a:p>
        </p:txBody>
      </p:sp>
      <p:sp>
        <p:nvSpPr>
          <p:cNvPr id="15" name="q-text-19">
            <a:extLst xmlns:a="http://schemas.openxmlformats.org/drawingml/2006/main">
              <a:ext uri="{FF2B5EF4-FFF2-40B4-BE49-F238E27FC236}">
                <a16:creationId xmlns:a16="http://schemas.microsoft.com/office/drawing/2014/main" id="{9F1E7AB7-5520-40B7-818F-358D897E7353}"/>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is the expected financial benefit?</a:t>
            </a:r>
          </a:p>
        </p:txBody>
      </p:sp>
      <p:sp>
        <p:nvSpPr>
          <p:cNvPr id="16" name="q-rule-19">
            <a:extLst xmlns:a="http://schemas.openxmlformats.org/drawingml/2006/main">
              <a:ext uri="{FF2B5EF4-FFF2-40B4-BE49-F238E27FC236}">
                <a16:creationId xmlns:a16="http://schemas.microsoft.com/office/drawing/2014/main" id="{1587F124-0655-4A8D-88C7-8B34F689033A}"/>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20">
            <a:extLst xmlns:a="http://schemas.openxmlformats.org/drawingml/2006/main">
              <a:ext uri="{FF2B5EF4-FFF2-40B4-BE49-F238E27FC236}">
                <a16:creationId xmlns:a16="http://schemas.microsoft.com/office/drawing/2014/main" id="{10F19B68-A47C-40C8-9F96-66E201846CC9}"/>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20</a:t>
            </a:r>
          </a:p>
        </p:txBody>
      </p:sp>
      <p:sp>
        <p:nvSpPr>
          <p:cNvPr id="18" name="q-text-20">
            <a:extLst xmlns:a="http://schemas.openxmlformats.org/drawingml/2006/main">
              <a:ext uri="{FF2B5EF4-FFF2-40B4-BE49-F238E27FC236}">
                <a16:creationId xmlns:a16="http://schemas.microsoft.com/office/drawing/2014/main" id="{09B3C537-FD5A-4DE6-BE92-16CFA03067DA}"/>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is the cost of operating V2?</a:t>
            </a:r>
          </a:p>
        </p:txBody>
      </p:sp>
    </p:spTree>
    <p:extLst>
      <p:ext uri="{BB962C8B-B14F-4D97-AF65-F5344CB8AC3E}">
        <p14:creationId xmlns:p14="http://schemas.microsoft.com/office/powerpoint/2010/main" val="7841206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5">
            <a:extLst xmlns:a="http://schemas.openxmlformats.org/drawingml/2006/main">
              <a:ext uri="{FF2B5EF4-FFF2-40B4-BE49-F238E27FC236}">
                <a16:creationId xmlns:a16="http://schemas.microsoft.com/office/drawing/2014/main" id="{8CBF8BB5-E06B-464D-A044-A2AD72BE9EB6}"/>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5">
            <a:extLst xmlns:a="http://schemas.openxmlformats.org/drawingml/2006/main">
              <a:ext uri="{FF2B5EF4-FFF2-40B4-BE49-F238E27FC236}">
                <a16:creationId xmlns:a16="http://schemas.microsoft.com/office/drawing/2014/main" id="{030A1EA6-32E4-43BE-A538-D121433AD8B5}"/>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Data, model risk &amp; accountability</a:t>
            </a:r>
          </a:p>
        </p:txBody>
      </p:sp>
      <p:sp>
        <p:nvSpPr>
          <p:cNvPr id="3" name="accent-15">
            <a:extLst xmlns:a="http://schemas.openxmlformats.org/drawingml/2006/main">
              <a:ext uri="{FF2B5EF4-FFF2-40B4-BE49-F238E27FC236}">
                <a16:creationId xmlns:a16="http://schemas.microsoft.com/office/drawing/2014/main" id="{7DC21E10-D3B1-4B76-9AD6-7127D6F61878}"/>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5">
            <a:extLst xmlns:a="http://schemas.openxmlformats.org/drawingml/2006/main">
              <a:ext uri="{FF2B5EF4-FFF2-40B4-BE49-F238E27FC236}">
                <a16:creationId xmlns:a16="http://schemas.microsoft.com/office/drawing/2014/main" id="{3A01A284-6D86-4C07-87BF-B009B7705BF8}"/>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15</a:t>
            </a:r>
          </a:p>
        </p:txBody>
      </p:sp>
      <p:sp>
        <p:nvSpPr>
          <p:cNvPr id="5" name="q-num-21">
            <a:extLst xmlns:a="http://schemas.openxmlformats.org/drawingml/2006/main">
              <a:ext uri="{FF2B5EF4-FFF2-40B4-BE49-F238E27FC236}">
                <a16:creationId xmlns:a16="http://schemas.microsoft.com/office/drawing/2014/main" id="{A0DEC7FD-B1C4-4AD3-AEFB-FC60589EE4E5}"/>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21</a:t>
            </a:r>
          </a:p>
        </p:txBody>
      </p:sp>
      <p:sp>
        <p:nvSpPr>
          <p:cNvPr id="6" name="q-text-21">
            <a:extLst xmlns:a="http://schemas.openxmlformats.org/drawingml/2006/main">
              <a:ext uri="{FF2B5EF4-FFF2-40B4-BE49-F238E27FC236}">
                <a16:creationId xmlns:a16="http://schemas.microsoft.com/office/drawing/2014/main" id="{F082BEB4-98C9-43DE-8CF5-D1947797005C}"/>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do we protect confidential source code?</a:t>
            </a:r>
          </a:p>
        </p:txBody>
      </p:sp>
      <p:sp>
        <p:nvSpPr>
          <p:cNvPr id="7" name="q-rule-21">
            <a:extLst xmlns:a="http://schemas.openxmlformats.org/drawingml/2006/main">
              <a:ext uri="{FF2B5EF4-FFF2-40B4-BE49-F238E27FC236}">
                <a16:creationId xmlns:a16="http://schemas.microsoft.com/office/drawing/2014/main" id="{FD13B8C9-95EE-4CE1-B2A3-5FF4C70F7FF3}"/>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22">
            <a:extLst xmlns:a="http://schemas.openxmlformats.org/drawingml/2006/main">
              <a:ext uri="{FF2B5EF4-FFF2-40B4-BE49-F238E27FC236}">
                <a16:creationId xmlns:a16="http://schemas.microsoft.com/office/drawing/2014/main" id="{AD333F81-4BBF-4C52-B30E-8F05FA3BEE69}"/>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22</a:t>
            </a:r>
          </a:p>
        </p:txBody>
      </p:sp>
      <p:sp>
        <p:nvSpPr>
          <p:cNvPr id="9" name="q-text-22">
            <a:extLst xmlns:a="http://schemas.openxmlformats.org/drawingml/2006/main">
              <a:ext uri="{FF2B5EF4-FFF2-40B4-BE49-F238E27FC236}">
                <a16:creationId xmlns:a16="http://schemas.microsoft.com/office/drawing/2014/main" id="{2D36FD55-C7B4-46CD-B05E-7D429240698D}"/>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Could secrets still be exposed to the model?</a:t>
            </a:r>
          </a:p>
        </p:txBody>
      </p:sp>
      <p:sp>
        <p:nvSpPr>
          <p:cNvPr id="10" name="q-rule-22">
            <a:extLst xmlns:a="http://schemas.openxmlformats.org/drawingml/2006/main">
              <a:ext uri="{FF2B5EF4-FFF2-40B4-BE49-F238E27FC236}">
                <a16:creationId xmlns:a16="http://schemas.microsoft.com/office/drawing/2014/main" id="{BC86CDC0-50DB-4EF8-AEA7-BF9086C65228}"/>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23">
            <a:extLst xmlns:a="http://schemas.openxmlformats.org/drawingml/2006/main">
              <a:ext uri="{FF2B5EF4-FFF2-40B4-BE49-F238E27FC236}">
                <a16:creationId xmlns:a16="http://schemas.microsoft.com/office/drawing/2014/main" id="{61B1EB16-AA1A-4582-B248-2F493361E388}"/>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23</a:t>
            </a:r>
          </a:p>
        </p:txBody>
      </p:sp>
      <p:sp>
        <p:nvSpPr>
          <p:cNvPr id="12" name="q-text-23">
            <a:extLst xmlns:a="http://schemas.openxmlformats.org/drawingml/2006/main">
              <a:ext uri="{FF2B5EF4-FFF2-40B4-BE49-F238E27FC236}">
                <a16:creationId xmlns:a16="http://schemas.microsoft.com/office/drawing/2014/main" id="{FA6F9683-B32F-415B-AECC-D680144069C4}"/>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data will be retained?</a:t>
            </a:r>
          </a:p>
        </p:txBody>
      </p:sp>
      <p:sp>
        <p:nvSpPr>
          <p:cNvPr id="13" name="q-rule-23">
            <a:extLst xmlns:a="http://schemas.openxmlformats.org/drawingml/2006/main">
              <a:ext uri="{FF2B5EF4-FFF2-40B4-BE49-F238E27FC236}">
                <a16:creationId xmlns:a16="http://schemas.microsoft.com/office/drawing/2014/main" id="{E9B5800A-958A-44A3-B4DC-40615EAFB0AA}"/>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24">
            <a:extLst xmlns:a="http://schemas.openxmlformats.org/drawingml/2006/main">
              <a:ext uri="{FF2B5EF4-FFF2-40B4-BE49-F238E27FC236}">
                <a16:creationId xmlns:a16="http://schemas.microsoft.com/office/drawing/2014/main" id="{1B5FACC3-F2A7-40A0-BF20-A09ABB63FB07}"/>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24</a:t>
            </a:r>
          </a:p>
        </p:txBody>
      </p:sp>
      <p:sp>
        <p:nvSpPr>
          <p:cNvPr id="15" name="q-text-24">
            <a:extLst xmlns:a="http://schemas.openxmlformats.org/drawingml/2006/main">
              <a:ext uri="{FF2B5EF4-FFF2-40B4-BE49-F238E27FC236}">
                <a16:creationId xmlns:a16="http://schemas.microsoft.com/office/drawing/2014/main" id="{8F52289C-8BB8-4C25-877E-1E998EB88E06}"/>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Does this create a new model-risk or regulatory concern?</a:t>
            </a:r>
          </a:p>
        </p:txBody>
      </p:sp>
      <p:sp>
        <p:nvSpPr>
          <p:cNvPr id="16" name="q-rule-24">
            <a:extLst xmlns:a="http://schemas.openxmlformats.org/drawingml/2006/main">
              <a:ext uri="{FF2B5EF4-FFF2-40B4-BE49-F238E27FC236}">
                <a16:creationId xmlns:a16="http://schemas.microsoft.com/office/drawing/2014/main" id="{63EBF820-85B4-43BE-AE49-1012139FF0DD}"/>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25">
            <a:extLst xmlns:a="http://schemas.openxmlformats.org/drawingml/2006/main">
              <a:ext uri="{FF2B5EF4-FFF2-40B4-BE49-F238E27FC236}">
                <a16:creationId xmlns:a16="http://schemas.microsoft.com/office/drawing/2014/main" id="{4E653CB8-D93E-4ADF-9350-D6CEDA66FE90}"/>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25</a:t>
            </a:r>
          </a:p>
        </p:txBody>
      </p:sp>
      <p:sp>
        <p:nvSpPr>
          <p:cNvPr id="18" name="q-text-25">
            <a:extLst xmlns:a="http://schemas.openxmlformats.org/drawingml/2006/main">
              <a:ext uri="{FF2B5EF4-FFF2-40B4-BE49-F238E27FC236}">
                <a16:creationId xmlns:a16="http://schemas.microsoft.com/office/drawing/2014/main" id="{8B429933-3D8A-44A9-87C0-3A28593E14F4}"/>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Who is accountable when the agent misses an issue?</a:t>
            </a:r>
          </a:p>
        </p:txBody>
      </p:sp>
    </p:spTree>
    <p:extLst>
      <p:ext uri="{BB962C8B-B14F-4D97-AF65-F5344CB8AC3E}">
        <p14:creationId xmlns:p14="http://schemas.microsoft.com/office/powerpoint/2010/main" val="15903631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6">
            <a:extLst xmlns:a="http://schemas.openxmlformats.org/drawingml/2006/main">
              <a:ext uri="{FF2B5EF4-FFF2-40B4-BE49-F238E27FC236}">
                <a16:creationId xmlns:a16="http://schemas.microsoft.com/office/drawing/2014/main" id="{9FA00424-0DD9-4803-B865-5488E952401F}"/>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6">
            <a:extLst xmlns:a="http://schemas.openxmlformats.org/drawingml/2006/main">
              <a:ext uri="{FF2B5EF4-FFF2-40B4-BE49-F238E27FC236}">
                <a16:creationId xmlns:a16="http://schemas.microsoft.com/office/drawing/2014/main" id="{459AEB58-EC8B-40BF-9ADA-4A0742CDD99C}"/>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Ownership, onboarding &amp; standards</a:t>
            </a:r>
          </a:p>
        </p:txBody>
      </p:sp>
      <p:sp>
        <p:nvSpPr>
          <p:cNvPr id="3" name="accent-16">
            <a:extLst xmlns:a="http://schemas.openxmlformats.org/drawingml/2006/main">
              <a:ext uri="{FF2B5EF4-FFF2-40B4-BE49-F238E27FC236}">
                <a16:creationId xmlns:a16="http://schemas.microsoft.com/office/drawing/2014/main" id="{9D7FC970-0965-445B-9F99-14F9B53E4509}"/>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6">
            <a:extLst xmlns:a="http://schemas.openxmlformats.org/drawingml/2006/main">
              <a:ext uri="{FF2B5EF4-FFF2-40B4-BE49-F238E27FC236}">
                <a16:creationId xmlns:a16="http://schemas.microsoft.com/office/drawing/2014/main" id="{3CA5ECF3-AFE4-44B8-9AFA-1A3FB7B7D143}"/>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16</a:t>
            </a:r>
          </a:p>
        </p:txBody>
      </p:sp>
      <p:sp>
        <p:nvSpPr>
          <p:cNvPr id="5" name="q-num-26">
            <a:extLst xmlns:a="http://schemas.openxmlformats.org/drawingml/2006/main">
              <a:ext uri="{FF2B5EF4-FFF2-40B4-BE49-F238E27FC236}">
                <a16:creationId xmlns:a16="http://schemas.microsoft.com/office/drawing/2014/main" id="{8082A9DC-8FA3-401F-9918-1548C3D8871E}"/>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26</a:t>
            </a:r>
          </a:p>
        </p:txBody>
      </p:sp>
      <p:sp>
        <p:nvSpPr>
          <p:cNvPr id="6" name="q-text-26">
            <a:extLst xmlns:a="http://schemas.openxmlformats.org/drawingml/2006/main">
              <a:ext uri="{FF2B5EF4-FFF2-40B4-BE49-F238E27FC236}">
                <a16:creationId xmlns:a16="http://schemas.microsoft.com/office/drawing/2014/main" id="{976924E8-F476-4105-86ED-40B844FE09EC}"/>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Who owns the product and supports adopters?</a:t>
            </a:r>
          </a:p>
        </p:txBody>
      </p:sp>
      <p:sp>
        <p:nvSpPr>
          <p:cNvPr id="7" name="q-rule-26">
            <a:extLst xmlns:a="http://schemas.openxmlformats.org/drawingml/2006/main">
              <a:ext uri="{FF2B5EF4-FFF2-40B4-BE49-F238E27FC236}">
                <a16:creationId xmlns:a16="http://schemas.microsoft.com/office/drawing/2014/main" id="{338BD6EB-4AB6-4979-848D-BCF888DF1F79}"/>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27">
            <a:extLst xmlns:a="http://schemas.openxmlformats.org/drawingml/2006/main">
              <a:ext uri="{FF2B5EF4-FFF2-40B4-BE49-F238E27FC236}">
                <a16:creationId xmlns:a16="http://schemas.microsoft.com/office/drawing/2014/main" id="{98475618-0155-4D9D-95F6-7970B250853A}"/>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27</a:t>
            </a:r>
          </a:p>
        </p:txBody>
      </p:sp>
      <p:sp>
        <p:nvSpPr>
          <p:cNvPr id="9" name="q-text-27">
            <a:extLst xmlns:a="http://schemas.openxmlformats.org/drawingml/2006/main">
              <a:ext uri="{FF2B5EF4-FFF2-40B4-BE49-F238E27FC236}">
                <a16:creationId xmlns:a16="http://schemas.microsoft.com/office/drawing/2014/main" id="{2F7DE0E2-D9D8-4156-928F-F452D57D3C5A}"/>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will teams onboard their repositories?</a:t>
            </a:r>
          </a:p>
        </p:txBody>
      </p:sp>
      <p:sp>
        <p:nvSpPr>
          <p:cNvPr id="10" name="q-rule-27">
            <a:extLst xmlns:a="http://schemas.openxmlformats.org/drawingml/2006/main">
              <a:ext uri="{FF2B5EF4-FFF2-40B4-BE49-F238E27FC236}">
                <a16:creationId xmlns:a16="http://schemas.microsoft.com/office/drawing/2014/main" id="{99575FE5-62CA-4ACD-9CB1-681CBEB8D6C5}"/>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28">
            <a:extLst xmlns:a="http://schemas.openxmlformats.org/drawingml/2006/main">
              <a:ext uri="{FF2B5EF4-FFF2-40B4-BE49-F238E27FC236}">
                <a16:creationId xmlns:a16="http://schemas.microsoft.com/office/drawing/2014/main" id="{4EC6CBA6-0A22-4B2F-A7A5-FC26F249782E}"/>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28</a:t>
            </a:r>
          </a:p>
        </p:txBody>
      </p:sp>
      <p:sp>
        <p:nvSpPr>
          <p:cNvPr id="12" name="q-text-28">
            <a:extLst xmlns:a="http://schemas.openxmlformats.org/drawingml/2006/main">
              <a:ext uri="{FF2B5EF4-FFF2-40B4-BE49-F238E27FC236}">
                <a16:creationId xmlns:a16="http://schemas.microsoft.com/office/drawing/2014/main" id="{64935C40-0761-4E4F-9526-3F2A840BCB9D}"/>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project context must teams provide?</a:t>
            </a:r>
          </a:p>
        </p:txBody>
      </p:sp>
      <p:sp>
        <p:nvSpPr>
          <p:cNvPr id="13" name="q-rule-28">
            <a:extLst xmlns:a="http://schemas.openxmlformats.org/drawingml/2006/main">
              <a:ext uri="{FF2B5EF4-FFF2-40B4-BE49-F238E27FC236}">
                <a16:creationId xmlns:a16="http://schemas.microsoft.com/office/drawing/2014/main" id="{8095AACD-E75A-45F7-A8CD-E17DE257BD5E}"/>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29">
            <a:extLst xmlns:a="http://schemas.openxmlformats.org/drawingml/2006/main">
              <a:ext uri="{FF2B5EF4-FFF2-40B4-BE49-F238E27FC236}">
                <a16:creationId xmlns:a16="http://schemas.microsoft.com/office/drawing/2014/main" id="{665B95C5-DA3F-48AD-9BCB-0AACA2D2A7DB}"/>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29</a:t>
            </a:r>
          </a:p>
        </p:txBody>
      </p:sp>
      <p:sp>
        <p:nvSpPr>
          <p:cNvPr id="15" name="q-text-29">
            <a:extLst xmlns:a="http://schemas.openxmlformats.org/drawingml/2006/main">
              <a:ext uri="{FF2B5EF4-FFF2-40B4-BE49-F238E27FC236}">
                <a16:creationId xmlns:a16="http://schemas.microsoft.com/office/drawing/2014/main" id="{FC0337CB-6D24-4CB2-96F8-93A994B77AC4}"/>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Can one rule set work across all technologies?</a:t>
            </a:r>
          </a:p>
        </p:txBody>
      </p:sp>
      <p:sp>
        <p:nvSpPr>
          <p:cNvPr id="16" name="q-rule-29">
            <a:extLst xmlns:a="http://schemas.openxmlformats.org/drawingml/2006/main">
              <a:ext uri="{FF2B5EF4-FFF2-40B4-BE49-F238E27FC236}">
                <a16:creationId xmlns:a16="http://schemas.microsoft.com/office/drawing/2014/main" id="{BE5770FF-9539-4C1D-AD93-42414487FC43}"/>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30">
            <a:extLst xmlns:a="http://schemas.openxmlformats.org/drawingml/2006/main">
              <a:ext uri="{FF2B5EF4-FFF2-40B4-BE49-F238E27FC236}">
                <a16:creationId xmlns:a16="http://schemas.microsoft.com/office/drawing/2014/main" id="{3AEF65EB-BB40-467C-A653-DC31196698B7}"/>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30</a:t>
            </a:r>
          </a:p>
        </p:txBody>
      </p:sp>
      <p:sp>
        <p:nvSpPr>
          <p:cNvPr id="18" name="q-text-30">
            <a:extLst xmlns:a="http://schemas.openxmlformats.org/drawingml/2006/main">
              <a:ext uri="{FF2B5EF4-FFF2-40B4-BE49-F238E27FC236}">
                <a16:creationId xmlns:a16="http://schemas.microsoft.com/office/drawing/2014/main" id="{09560CD6-01DB-4610-9293-876DADEEE13B}"/>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do we prevent teams from weakening mandatory controls?</a:t>
            </a:r>
          </a:p>
        </p:txBody>
      </p:sp>
    </p:spTree>
    <p:extLst>
      <p:ext uri="{BB962C8B-B14F-4D97-AF65-F5344CB8AC3E}">
        <p14:creationId xmlns:p14="http://schemas.microsoft.com/office/powerpoint/2010/main" val="12537019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17">
            <a:extLst xmlns:a="http://schemas.openxmlformats.org/drawingml/2006/main">
              <a:ext uri="{FF2B5EF4-FFF2-40B4-BE49-F238E27FC236}">
                <a16:creationId xmlns:a16="http://schemas.microsoft.com/office/drawing/2014/main" id="{F2CF69CA-E0CF-4D22-9C39-FD6E6BA06E7D}"/>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7">
            <a:extLst xmlns:a="http://schemas.openxmlformats.org/drawingml/2006/main">
              <a:ext uri="{FF2B5EF4-FFF2-40B4-BE49-F238E27FC236}">
                <a16:creationId xmlns:a16="http://schemas.microsoft.com/office/drawing/2014/main" id="{BB7D5C08-FF06-45E1-B5BD-8687770B76C9}"/>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Scale, concurrency &amp; overrides</a:t>
            </a:r>
          </a:p>
        </p:txBody>
      </p:sp>
      <p:sp>
        <p:nvSpPr>
          <p:cNvPr id="3" name="accent-17">
            <a:extLst xmlns:a="http://schemas.openxmlformats.org/drawingml/2006/main">
              <a:ext uri="{FF2B5EF4-FFF2-40B4-BE49-F238E27FC236}">
                <a16:creationId xmlns:a16="http://schemas.microsoft.com/office/drawing/2014/main" id="{A7DD4920-A373-4F3D-BF4B-C401993F10D0}"/>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7">
            <a:extLst xmlns:a="http://schemas.openxmlformats.org/drawingml/2006/main">
              <a:ext uri="{FF2B5EF4-FFF2-40B4-BE49-F238E27FC236}">
                <a16:creationId xmlns:a16="http://schemas.microsoft.com/office/drawing/2014/main" id="{5FF1A545-3285-47DC-85AC-2AAAD5CD57F7}"/>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17</a:t>
            </a:r>
          </a:p>
        </p:txBody>
      </p:sp>
      <p:sp>
        <p:nvSpPr>
          <p:cNvPr id="5" name="q-num-31">
            <a:extLst xmlns:a="http://schemas.openxmlformats.org/drawingml/2006/main">
              <a:ext uri="{FF2B5EF4-FFF2-40B4-BE49-F238E27FC236}">
                <a16:creationId xmlns:a16="http://schemas.microsoft.com/office/drawing/2014/main" id="{DF133FB2-8349-4444-9FDF-A530AD9ED94B}"/>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31</a:t>
            </a:r>
          </a:p>
        </p:txBody>
      </p:sp>
      <p:sp>
        <p:nvSpPr>
          <p:cNvPr id="6" name="q-text-31">
            <a:extLst xmlns:a="http://schemas.openxmlformats.org/drawingml/2006/main">
              <a:ext uri="{FF2B5EF4-FFF2-40B4-BE49-F238E27FC236}">
                <a16:creationId xmlns:a16="http://schemas.microsoft.com/office/drawing/2014/main" id="{D3715D11-7482-4FBE-8901-6F920E58E9F8}"/>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does the agent handle large pull requests?</a:t>
            </a:r>
          </a:p>
        </p:txBody>
      </p:sp>
      <p:sp>
        <p:nvSpPr>
          <p:cNvPr id="7" name="q-rule-31">
            <a:extLst xmlns:a="http://schemas.openxmlformats.org/drawingml/2006/main">
              <a:ext uri="{FF2B5EF4-FFF2-40B4-BE49-F238E27FC236}">
                <a16:creationId xmlns:a16="http://schemas.microsoft.com/office/drawing/2014/main" id="{D8825FBA-C432-40CD-9225-153C9DDD8EBB}"/>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32">
            <a:extLst xmlns:a="http://schemas.openxmlformats.org/drawingml/2006/main">
              <a:ext uri="{FF2B5EF4-FFF2-40B4-BE49-F238E27FC236}">
                <a16:creationId xmlns:a16="http://schemas.microsoft.com/office/drawing/2014/main" id="{4FBCFD11-DDE8-4350-AF43-EE4B43A18917}"/>
              </a:ext>
            </a:extLst>
          </p:cNvPr>
          <p:cNvSpPr>
            <a:spLocks xmlns:a="http://schemas.openxmlformats.org/drawingml/2006/main" noGrp="1"/>
          </p:cNvSpPr>
          <p:nvPr/>
        </p:nvSpPr>
        <p:spPr>
          <a:xfrm xmlns:a="http://schemas.openxmlformats.org/drawingml/2006/main">
            <a:off x="476250" y="2400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32</a:t>
            </a:r>
          </a:p>
        </p:txBody>
      </p:sp>
      <p:sp>
        <p:nvSpPr>
          <p:cNvPr id="9" name="q-text-32">
            <a:extLst xmlns:a="http://schemas.openxmlformats.org/drawingml/2006/main">
              <a:ext uri="{FF2B5EF4-FFF2-40B4-BE49-F238E27FC236}">
                <a16:creationId xmlns:a16="http://schemas.microsoft.com/office/drawing/2014/main" id="{242609B7-D3B8-439D-8189-6E7780135984}"/>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How does it handle new commits to an existing pull request?</a:t>
            </a:r>
          </a:p>
        </p:txBody>
      </p:sp>
      <p:sp>
        <p:nvSpPr>
          <p:cNvPr id="10" name="q-rule-32">
            <a:extLst xmlns:a="http://schemas.openxmlformats.org/drawingml/2006/main">
              <a:ext uri="{FF2B5EF4-FFF2-40B4-BE49-F238E27FC236}">
                <a16:creationId xmlns:a16="http://schemas.microsoft.com/office/drawing/2014/main" id="{AC87EFDD-E84E-4027-8E5F-27E9867941BA}"/>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33">
            <a:extLst xmlns:a="http://schemas.openxmlformats.org/drawingml/2006/main">
              <a:ext uri="{FF2B5EF4-FFF2-40B4-BE49-F238E27FC236}">
                <a16:creationId xmlns:a16="http://schemas.microsoft.com/office/drawing/2014/main" id="{42B79A0D-058D-4349-B389-500DBDFC36C4}"/>
              </a:ext>
            </a:extLst>
          </p:cNvPr>
          <p:cNvSpPr>
            <a:spLocks xmlns:a="http://schemas.openxmlformats.org/drawingml/2006/main" noGrp="1"/>
          </p:cNvSpPr>
          <p:nvPr/>
        </p:nvSpPr>
        <p:spPr>
          <a:xfrm xmlns:a="http://schemas.openxmlformats.org/drawingml/2006/main">
            <a:off x="476250" y="3143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33</a:t>
            </a:r>
          </a:p>
        </p:txBody>
      </p:sp>
      <p:sp>
        <p:nvSpPr>
          <p:cNvPr id="12" name="q-text-33">
            <a:extLst xmlns:a="http://schemas.openxmlformats.org/drawingml/2006/main">
              <a:ext uri="{FF2B5EF4-FFF2-40B4-BE49-F238E27FC236}">
                <a16:creationId xmlns:a16="http://schemas.microsoft.com/office/drawing/2014/main" id="{B415794C-C8C9-4DBF-8F45-E30C6C97922A}"/>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prevents two simultaneous reviews from publishing conflicting results?</a:t>
            </a:r>
          </a:p>
        </p:txBody>
      </p:sp>
      <p:sp>
        <p:nvSpPr>
          <p:cNvPr id="13" name="q-rule-33">
            <a:extLst xmlns:a="http://schemas.openxmlformats.org/drawingml/2006/main">
              <a:ext uri="{FF2B5EF4-FFF2-40B4-BE49-F238E27FC236}">
                <a16:creationId xmlns:a16="http://schemas.microsoft.com/office/drawing/2014/main" id="{A6F3ACDB-0DA0-4548-B338-A5C3EB5ECACE}"/>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q-num-34">
            <a:extLst xmlns:a="http://schemas.openxmlformats.org/drawingml/2006/main">
              <a:ext uri="{FF2B5EF4-FFF2-40B4-BE49-F238E27FC236}">
                <a16:creationId xmlns:a16="http://schemas.microsoft.com/office/drawing/2014/main" id="{B5A97442-A5E8-4087-A176-3D580ECD86FA}"/>
              </a:ext>
            </a:extLst>
          </p:cNvPr>
          <p:cNvSpPr>
            <a:spLocks xmlns:a="http://schemas.openxmlformats.org/drawingml/2006/main" noGrp="1"/>
          </p:cNvSpPr>
          <p:nvPr/>
        </p:nvSpPr>
        <p:spPr>
          <a:xfrm xmlns:a="http://schemas.openxmlformats.org/drawingml/2006/main">
            <a:off x="476250" y="3886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34</a:t>
            </a:r>
          </a:p>
        </p:txBody>
      </p:sp>
      <p:sp>
        <p:nvSpPr>
          <p:cNvPr id="15" name="q-text-34">
            <a:extLst xmlns:a="http://schemas.openxmlformats.org/drawingml/2006/main">
              <a:ext uri="{FF2B5EF4-FFF2-40B4-BE49-F238E27FC236}">
                <a16:creationId xmlns:a16="http://schemas.microsoft.com/office/drawing/2014/main" id="{94CAE40C-6321-4DC1-A838-A274DCA3E8DA}"/>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Can reviewers override a blocking finding?</a:t>
            </a:r>
          </a:p>
        </p:txBody>
      </p:sp>
      <p:sp>
        <p:nvSpPr>
          <p:cNvPr id="16" name="q-rule-34">
            <a:extLst xmlns:a="http://schemas.openxmlformats.org/drawingml/2006/main">
              <a:ext uri="{FF2B5EF4-FFF2-40B4-BE49-F238E27FC236}">
                <a16:creationId xmlns:a16="http://schemas.microsoft.com/office/drawing/2014/main" id="{6AB7077E-3907-4F35-9F49-C041DF537741}"/>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q-num-35">
            <a:extLst xmlns:a="http://schemas.openxmlformats.org/drawingml/2006/main">
              <a:ext uri="{FF2B5EF4-FFF2-40B4-BE49-F238E27FC236}">
                <a16:creationId xmlns:a16="http://schemas.microsoft.com/office/drawing/2014/main" id="{FD8500BC-7594-47F6-8CEA-993AD2841D60}"/>
              </a:ext>
            </a:extLst>
          </p:cNvPr>
          <p:cNvSpPr>
            <a:spLocks xmlns:a="http://schemas.openxmlformats.org/drawingml/2006/main" noGrp="1"/>
          </p:cNvSpPr>
          <p:nvPr/>
        </p:nvSpPr>
        <p:spPr>
          <a:xfrm xmlns:a="http://schemas.openxmlformats.org/drawingml/2006/main">
            <a:off x="476250" y="4629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35</a:t>
            </a:r>
          </a:p>
        </p:txBody>
      </p:sp>
      <p:sp>
        <p:nvSpPr>
          <p:cNvPr id="18" name="q-text-35">
            <a:extLst xmlns:a="http://schemas.openxmlformats.org/drawingml/2006/main">
              <a:ext uri="{FF2B5EF4-FFF2-40B4-BE49-F238E27FC236}">
                <a16:creationId xmlns:a16="http://schemas.microsoft.com/office/drawing/2014/main" id="{EAC09762-8884-4F70-B184-355D4F2A95AE}"/>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Will this slow down pull requests?</a:t>
            </a:r>
          </a:p>
        </p:txBody>
      </p:sp>
    </p:spTree>
    <p:extLst>
      <p:ext uri="{BB962C8B-B14F-4D97-AF65-F5344CB8AC3E}">
        <p14:creationId xmlns:p14="http://schemas.microsoft.com/office/powerpoint/2010/main" val="3404248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18">
            <a:extLst xmlns:a="http://schemas.openxmlformats.org/drawingml/2006/main">
              <a:ext uri="{FF2B5EF4-FFF2-40B4-BE49-F238E27FC236}">
                <a16:creationId xmlns:a16="http://schemas.microsoft.com/office/drawing/2014/main" id="{6DFDAD8D-FF8C-435A-AF26-2217E68CD6F0}"/>
              </a:ext>
            </a:extLst>
          </p:cNvPr>
          <p:cNvSpPr>
            <a:spLocks xmlns:a="http://schemas.openxmlformats.org/drawingml/2006/main" noGrp="1"/>
          </p:cNvSpPr>
          <p:nvPr/>
        </p:nvSpPr>
        <p:spPr>
          <a:xfrm xmlns:a="http://schemas.openxmlformats.org/drawingml/2006/main">
            <a:off x="400050" y="2762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F6670"/>
                </a:solidFill>
                <a:latin typeface="Helvetica Neue"/>
                <a:ea typeface="Helvetica Neue"/>
                <a:cs typeface="Helvetica Neue"/>
              </a:defRPr>
            </a:pPr>
            <a:r>
              <a:rPr sz="1050" b="1">
                <a:solidFill>
                  <a:srgbClr val="5F6670"/>
                </a:solidFill>
                <a:latin typeface="Helvetica Neue"/>
                <a:ea typeface="Helvetica Neue"/>
                <a:cs typeface="Helvetica Neue"/>
              </a:rPr>
              <a:t>LEADERSHIP Q&amp;A APPENDIX</a:t>
            </a:r>
          </a:p>
        </p:txBody>
      </p:sp>
      <p:sp>
        <p:nvSpPr>
          <p:cNvPr id="2" name="title-18">
            <a:extLst xmlns:a="http://schemas.openxmlformats.org/drawingml/2006/main">
              <a:ext uri="{FF2B5EF4-FFF2-40B4-BE49-F238E27FC236}">
                <a16:creationId xmlns:a16="http://schemas.microsoft.com/office/drawing/2014/main" id="{FFA345C7-50FE-47D9-9AB8-364CF207ACAE}"/>
              </a:ext>
            </a:extLst>
          </p:cNvPr>
          <p:cNvSpPr>
            <a:spLocks xmlns:a="http://schemas.openxmlformats.org/drawingml/2006/main" noGrp="1"/>
          </p:cNvSpPr>
          <p:nvPr/>
        </p:nvSpPr>
        <p:spPr>
          <a:xfrm xmlns:a="http://schemas.openxmlformats.org/drawingml/2006/main">
            <a:off x="400050" y="609600"/>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01114"/>
                </a:solidFill>
                <a:latin typeface="Helvetica Neue"/>
                <a:ea typeface="Helvetica Neue"/>
                <a:cs typeface="Helvetica Neue"/>
              </a:defRPr>
            </a:pPr>
            <a:r>
              <a:rPr sz="2700" b="0">
                <a:solidFill>
                  <a:srgbClr val="101114"/>
                </a:solidFill>
                <a:latin typeface="Helvetica Neue"/>
                <a:ea typeface="Helvetica Neue"/>
                <a:cs typeface="Helvetica Neue"/>
              </a:rPr>
              <a:t>Pilot strategy &amp; leadership decision</a:t>
            </a:r>
          </a:p>
        </p:txBody>
      </p:sp>
      <p:sp>
        <p:nvSpPr>
          <p:cNvPr id="3" name="accent-18">
            <a:extLst xmlns:a="http://schemas.openxmlformats.org/drawingml/2006/main">
              <a:ext uri="{FF2B5EF4-FFF2-40B4-BE49-F238E27FC236}">
                <a16:creationId xmlns:a16="http://schemas.microsoft.com/office/drawing/2014/main" id="{A4483D5C-2DD8-48FE-B620-1ADAE0188A8D}"/>
              </a:ext>
            </a:extLst>
          </p:cNvPr>
          <p:cNvSpPr>
            <a:spLocks xmlns:a="http://schemas.openxmlformats.org/drawingml/2006/main" noGrp="1"/>
          </p:cNvSpPr>
          <p:nvPr/>
        </p:nvSpPr>
        <p:spPr>
          <a:xfrm xmlns:a="http://schemas.openxmlformats.org/drawingml/2006/main">
            <a:off x="400050" y="1409700"/>
            <a:ext cx="8382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footer-18">
            <a:extLst xmlns:a="http://schemas.openxmlformats.org/drawingml/2006/main">
              <a:ext uri="{FF2B5EF4-FFF2-40B4-BE49-F238E27FC236}">
                <a16:creationId xmlns:a16="http://schemas.microsoft.com/office/drawing/2014/main" id="{5D7C3828-2AF0-44D2-8B1C-72FC46D84B53}"/>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670"/>
                </a:solidFill>
                <a:latin typeface="Helvetica Neue"/>
                <a:ea typeface="Helvetica Neue"/>
                <a:cs typeface="Helvetica Neue"/>
              </a:defRPr>
            </a:pPr>
            <a:r>
              <a:rPr sz="975" b="0">
                <a:solidFill>
                  <a:srgbClr val="5F6670"/>
                </a:solidFill>
                <a:latin typeface="Helvetica Neue"/>
                <a:ea typeface="Helvetica Neue"/>
                <a:cs typeface="Helvetica Neue"/>
              </a:rPr>
              <a:t>18</a:t>
            </a:r>
          </a:p>
        </p:txBody>
      </p:sp>
      <p:sp>
        <p:nvSpPr>
          <p:cNvPr id="5" name="q-num-36">
            <a:extLst xmlns:a="http://schemas.openxmlformats.org/drawingml/2006/main">
              <a:ext uri="{FF2B5EF4-FFF2-40B4-BE49-F238E27FC236}">
                <a16:creationId xmlns:a16="http://schemas.microsoft.com/office/drawing/2014/main" id="{EE04DF15-A10A-4564-AC04-0AED3DAE8640}"/>
              </a:ext>
            </a:extLst>
          </p:cNvPr>
          <p:cNvSpPr>
            <a:spLocks xmlns:a="http://schemas.openxmlformats.org/drawingml/2006/main" noGrp="1"/>
          </p:cNvSpPr>
          <p:nvPr/>
        </p:nvSpPr>
        <p:spPr>
          <a:xfrm xmlns:a="http://schemas.openxmlformats.org/drawingml/2006/main">
            <a:off x="476250" y="1657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36</a:t>
            </a:r>
          </a:p>
        </p:txBody>
      </p:sp>
      <p:sp>
        <p:nvSpPr>
          <p:cNvPr id="6" name="q-text-36">
            <a:extLst xmlns:a="http://schemas.openxmlformats.org/drawingml/2006/main">
              <a:ext uri="{FF2B5EF4-FFF2-40B4-BE49-F238E27FC236}">
                <a16:creationId xmlns:a16="http://schemas.microsoft.com/office/drawing/2014/main" id="{E4E7ED3B-D61B-43BF-8266-19F3B21B4DBE}"/>
              </a:ext>
            </a:extLst>
          </p:cNvPr>
          <p:cNvSpPr>
            <a:spLocks xmlns:a="http://schemas.openxmlformats.org/drawingml/2006/main" noGrp="1"/>
          </p:cNvSpPr>
          <p:nvPr/>
        </p:nvSpPr>
        <p:spPr>
          <a:xfrm xmlns:a="http://schemas.openxmlformats.org/drawingml/2006/main">
            <a:off x="1066800" y="163830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is the rollout strategy?</a:t>
            </a:r>
          </a:p>
        </p:txBody>
      </p:sp>
      <p:sp>
        <p:nvSpPr>
          <p:cNvPr id="7" name="q-rule-36">
            <a:extLst xmlns:a="http://schemas.openxmlformats.org/drawingml/2006/main">
              <a:ext uri="{FF2B5EF4-FFF2-40B4-BE49-F238E27FC236}">
                <a16:creationId xmlns:a16="http://schemas.microsoft.com/office/drawing/2014/main" id="{FCF2CDA6-047A-4086-880B-5D86987D1DF0}"/>
              </a:ext>
            </a:extLst>
          </p:cNvPr>
          <p:cNvSpPr>
            <a:spLocks xmlns:a="http://schemas.openxmlformats.org/drawingml/2006/main" noGrp="1"/>
          </p:cNvSpPr>
          <p:nvPr/>
        </p:nvSpPr>
        <p:spPr>
          <a:xfrm xmlns:a="http://schemas.openxmlformats.org/drawingml/2006/main">
            <a:off x="1066800" y="240982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q-num-37">
            <a:extLst xmlns:a="http://schemas.openxmlformats.org/drawingml/2006/main">
              <a:ext uri="{FF2B5EF4-FFF2-40B4-BE49-F238E27FC236}">
                <a16:creationId xmlns:a16="http://schemas.microsoft.com/office/drawing/2014/main" id="{99C8698B-A5DD-484F-B369-F2D9D3A6F442}"/>
              </a:ext>
            </a:extLst>
          </p:cNvPr>
          <p:cNvSpPr>
            <a:spLocks xmlns:a="http://schemas.openxmlformats.org/drawingml/2006/main" noGrp="1"/>
          </p:cNvSpPr>
          <p:nvPr/>
        </p:nvSpPr>
        <p:spPr>
          <a:xfrm xmlns:a="http://schemas.openxmlformats.org/drawingml/2006/main">
            <a:off x="476250" y="25527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37</a:t>
            </a:r>
          </a:p>
        </p:txBody>
      </p:sp>
      <p:sp>
        <p:nvSpPr>
          <p:cNvPr id="9" name="q-text-37">
            <a:extLst xmlns:a="http://schemas.openxmlformats.org/drawingml/2006/main">
              <a:ext uri="{FF2B5EF4-FFF2-40B4-BE49-F238E27FC236}">
                <a16:creationId xmlns:a16="http://schemas.microsoft.com/office/drawing/2014/main" id="{406F38A9-2069-4CAD-8922-907828EEF92E}"/>
              </a:ext>
            </a:extLst>
          </p:cNvPr>
          <p:cNvSpPr>
            <a:spLocks xmlns:a="http://schemas.openxmlformats.org/drawingml/2006/main" noGrp="1"/>
          </p:cNvSpPr>
          <p:nvPr/>
        </p:nvSpPr>
        <p:spPr>
          <a:xfrm xmlns:a="http://schemas.openxmlformats.org/drawingml/2006/main">
            <a:off x="1066800" y="2533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are the criteria for stopping or pausing the pilot?</a:t>
            </a:r>
          </a:p>
        </p:txBody>
      </p:sp>
      <p:sp>
        <p:nvSpPr>
          <p:cNvPr id="10" name="q-rule-37">
            <a:extLst xmlns:a="http://schemas.openxmlformats.org/drawingml/2006/main">
              <a:ext uri="{FF2B5EF4-FFF2-40B4-BE49-F238E27FC236}">
                <a16:creationId xmlns:a16="http://schemas.microsoft.com/office/drawing/2014/main" id="{697070AC-8150-4C65-A401-48A3838FB192}"/>
              </a:ext>
            </a:extLst>
          </p:cNvPr>
          <p:cNvSpPr>
            <a:spLocks xmlns:a="http://schemas.openxmlformats.org/drawingml/2006/main" noGrp="1"/>
          </p:cNvSpPr>
          <p:nvPr/>
        </p:nvSpPr>
        <p:spPr>
          <a:xfrm xmlns:a="http://schemas.openxmlformats.org/drawingml/2006/main">
            <a:off x="1066800" y="3305175"/>
            <a:ext cx="10287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q-num-38">
            <a:extLst xmlns:a="http://schemas.openxmlformats.org/drawingml/2006/main">
              <a:ext uri="{FF2B5EF4-FFF2-40B4-BE49-F238E27FC236}">
                <a16:creationId xmlns:a16="http://schemas.microsoft.com/office/drawing/2014/main" id="{B1A304C4-57F3-4F85-BF33-8083C4BA9E46}"/>
              </a:ext>
            </a:extLst>
          </p:cNvPr>
          <p:cNvSpPr>
            <a:spLocks xmlns:a="http://schemas.openxmlformats.org/drawingml/2006/main" noGrp="1"/>
          </p:cNvSpPr>
          <p:nvPr/>
        </p:nvSpPr>
        <p:spPr>
          <a:xfrm xmlns:a="http://schemas.openxmlformats.org/drawingml/2006/main">
            <a:off x="476250" y="34480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38</a:t>
            </a:r>
          </a:p>
        </p:txBody>
      </p:sp>
      <p:sp>
        <p:nvSpPr>
          <p:cNvPr id="12" name="q-text-38">
            <a:extLst xmlns:a="http://schemas.openxmlformats.org/drawingml/2006/main">
              <a:ext uri="{FF2B5EF4-FFF2-40B4-BE49-F238E27FC236}">
                <a16:creationId xmlns:a16="http://schemas.microsoft.com/office/drawing/2014/main" id="{0CE7872A-399F-461C-871D-57FF2520B251}"/>
              </a:ext>
            </a:extLst>
          </p:cNvPr>
          <p:cNvSpPr>
            <a:spLocks xmlns:a="http://schemas.openxmlformats.org/drawingml/2006/main" noGrp="1"/>
          </p:cNvSpPr>
          <p:nvPr/>
        </p:nvSpPr>
        <p:spPr>
          <a:xfrm xmlns:a="http://schemas.openxmlformats.org/drawingml/2006/main">
            <a:off x="1066800" y="342900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114"/>
                </a:solidFill>
                <a:latin typeface="Helvetica Neue"/>
                <a:ea typeface="Helvetica Neue"/>
                <a:cs typeface="Helvetica Neue"/>
              </a:defRPr>
            </a:pPr>
            <a:r>
              <a:rPr sz="1500" b="0">
                <a:solidFill>
                  <a:srgbClr val="101114"/>
                </a:solidFill>
                <a:latin typeface="Helvetica Neue"/>
                <a:ea typeface="Helvetica Neue"/>
                <a:cs typeface="Helvetica Neue"/>
              </a:rPr>
              <a:t>What decision is needed from leadership?</a:t>
            </a:r>
          </a:p>
        </p:txBody>
      </p:sp>
    </p:spTree>
    <p:extLst>
      <p:ext uri="{BB962C8B-B14F-4D97-AF65-F5344CB8AC3E}">
        <p14:creationId xmlns:p14="http://schemas.microsoft.com/office/powerpoint/2010/main" val="246412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2026-07-24T01:29:51.8140000Z</dcterms:created>
  <dcterms:modified xsi:type="dcterms:W3CDTF">2026-07-24T01:29:51.8150000Z</dcterms:modified>
</coreProperties>
</file>